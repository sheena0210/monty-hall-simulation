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4" r:id="rId3"/>
    <p:sldId id="276" r:id="rId4"/>
    <p:sldId id="257" r:id="rId5"/>
    <p:sldId id="258" r:id="rId6"/>
    <p:sldId id="259" r:id="rId7"/>
    <p:sldId id="260" r:id="rId8"/>
    <p:sldId id="275" r:id="rId9"/>
    <p:sldId id="277" r:id="rId10"/>
    <p:sldId id="280" r:id="rId11"/>
    <p:sldId id="279" r:id="rId12"/>
    <p:sldId id="281" r:id="rId13"/>
    <p:sldId id="262" r:id="rId14"/>
    <p:sldId id="263" r:id="rId15"/>
    <p:sldId id="264" r:id="rId16"/>
    <p:sldId id="266" r:id="rId17"/>
    <p:sldId id="284" r:id="rId18"/>
    <p:sldId id="268" r:id="rId19"/>
    <p:sldId id="285" r:id="rId20"/>
    <p:sldId id="269" r:id="rId21"/>
    <p:sldId id="286" r:id="rId22"/>
    <p:sldId id="270" r:id="rId23"/>
    <p:sldId id="289" r:id="rId24"/>
    <p:sldId id="288" r:id="rId25"/>
    <p:sldId id="272" r:id="rId26"/>
    <p:sldId id="273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5748"/>
  </p:normalViewPr>
  <p:slideViewPr>
    <p:cSldViewPr snapToGrid="0">
      <p:cViewPr>
        <p:scale>
          <a:sx n="105" d="100"/>
          <a:sy n="105" d="100"/>
        </p:scale>
        <p:origin x="6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35FF2-8915-A54A-8EAD-8F85AB9A51FE}" type="datetimeFigureOut">
              <a:rPr kumimoji="1" lang="zh-TW" altLang="en-US" smtClean="0"/>
              <a:t>2026/5/15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3F3F7-B0A0-C049-8967-D842C17DA35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109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R Built-in Bernoulli Simulation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Inverse Transform Method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Antithetic Variates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71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A8A2-10DE-BC43-F0CA-D643BF63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2B9CD90-B25E-E7CE-836E-8D2938461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A0F40F-DBF3-AD3E-F0B9-FDD6AAC36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4473C8-FF78-AA0F-3040-B760BF0CC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390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1A12-5EE9-09C0-DB88-D70BF7CE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EAD2B6-C715-5BCE-097C-F33CB32F8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784CA6-A384-03A6-2C78-3AFE4A2F6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C72B0C-2B6F-D2A9-3C71-0449193AC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212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6169-096D-D134-1205-31AC0A9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CD3B14-87ED-315E-D66B-0BE3BAF34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911C3A-4783-4228-A056-8669671BA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F3BCDF-5BB1-42C4-FFAA-1F8AFF4E2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585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6DB8-5640-CEE9-72C8-905A3D68D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1780D8-6E43-BBD1-9746-792B36587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FEBDDF-AC76-39CD-C378-5E6DC8E28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B21206-AF45-29CE-9C4D-C962D4B83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8638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Permutation </a:t>
            </a:r>
            <a:r>
              <a:rPr kumimoji="1" lang="zh-TW" altLang="en-US" dirty="0"/>
              <a:t>結果：換門勝率</a:t>
            </a:r>
            <a:r>
              <a:rPr kumimoji="1" lang="en-US" altLang="zh-TW" dirty="0"/>
              <a:t>66.7%</a:t>
            </a:r>
            <a:r>
              <a:rPr kumimoji="1" lang="zh-TW" altLang="en-US" dirty="0"/>
              <a:t>、不換的勝率是</a:t>
            </a:r>
            <a:r>
              <a:rPr kumimoji="1" lang="en-US" altLang="zh-TW" dirty="0"/>
              <a:t>33.4%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接近理論</a:t>
            </a:r>
            <a:r>
              <a:rPr kumimoji="1" lang="en-US" altLang="zh-TW" dirty="0"/>
              <a:t>:</a:t>
            </a:r>
            <a:r>
              <a:rPr kumimoji="1" lang="zh-TW" altLang="en-US" dirty="0"/>
              <a:t>換門勝率</a:t>
            </a:r>
            <a:r>
              <a:rPr kumimoji="1" lang="en-US" altLang="zh-TW" dirty="0"/>
              <a:t>2/3. </a:t>
            </a:r>
            <a:r>
              <a:rPr kumimoji="1" lang="zh-TW" altLang="en-US" dirty="0"/>
              <a:t>不換的勝率</a:t>
            </a:r>
            <a:r>
              <a:rPr kumimoji="1" lang="en-US" altLang="zh-TW" dirty="0"/>
              <a:t>1/3</a:t>
            </a:r>
          </a:p>
          <a:p>
            <a:endParaRPr kumimoji="1"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/>
              <a:t>H0:</a:t>
            </a:r>
            <a:r>
              <a:rPr lang="zh-TW" altLang="zh-TW" dirty="0"/>
              <a:t>換門與不換門</a:t>
            </a:r>
            <a:r>
              <a:rPr lang="zh-TW" altLang="en-US" dirty="0"/>
              <a:t>勝率</a:t>
            </a:r>
            <a:r>
              <a:rPr lang="zh-TW" altLang="zh-TW" dirty="0"/>
              <a:t>沒有差別</a:t>
            </a:r>
            <a:r>
              <a:rPr lang="zh-TW" altLang="en-US" dirty="0"/>
              <a:t> （兩組平均數差異</a:t>
            </a:r>
            <a:r>
              <a:rPr lang="en-US" altLang="zh-TW" dirty="0"/>
              <a:t>=0</a:t>
            </a:r>
            <a:r>
              <a:rPr lang="zh-TW" altLang="en-US" dirty="0"/>
              <a:t>）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p=0:10000</a:t>
            </a:r>
            <a:r>
              <a:rPr lang="zh-TW" altLang="en-US" dirty="0"/>
              <a:t>次</a:t>
            </a:r>
            <a:r>
              <a:rPr lang="en-US" altLang="zh-TW" dirty="0"/>
              <a:t>permutation </a:t>
            </a:r>
            <a:r>
              <a:rPr lang="zh-TW" altLang="en-US" dirty="0"/>
              <a:t>沒有一次出現</a:t>
            </a:r>
            <a:r>
              <a:rPr lang="en-US" altLang="zh-TW" dirty="0"/>
              <a:t>mean difference=0.333038</a:t>
            </a:r>
            <a:endParaRPr lang="zh-TW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9315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4D6E-BA77-90BA-9C92-F5DB6510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3430F0-D7BE-CD14-00C9-D074673ED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ED56A10-A6F5-C3E6-6B95-6CE799B72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515A83-5339-D42A-A9CE-53E27DE7A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978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FBCB-9131-BB02-1053-77CD1C29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7FFBB0-FF18-7E6E-EADE-464406767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F8B58B7-3076-3D64-B0AE-E040BEE9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E3D68E-74D8-37FD-7CB3-B3A97A8B6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09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430F3D-DF9D-76BF-EC05-10D44C2F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FEB173-6E1D-C890-0DCE-9A1103CD9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993D7-F1DC-D400-AB71-D89E4810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52B38F-021C-E38D-EB5E-92E2F77B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32A271-6314-1050-D750-84F06AAA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50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F42DD-C958-00C5-EB25-3E501308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D525C6-E9C6-F7AD-3859-127C75CD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29C73F-931C-118E-B211-797BF8A8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13B2C-4831-6DD5-2C31-317910C3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8345FC-3060-B8B8-0FAE-489F54D0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6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EF40F-703F-8977-48A8-434D4180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853EBB-F0F3-8E8A-8B66-4649EA57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534432-FABD-5526-39AE-02B23C88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9AA32B-8C2A-F3C5-01C8-21C5108A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0B3D22-E7A8-F143-51F9-524F265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646B1-3984-4614-DEFF-DCE99DA2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1C0EF0-7AC4-1D9F-995D-187AAEEF2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9F43AD-8BD9-161D-89E0-8C99BC60F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FCADE2-4DF2-3F32-D3D9-A8497E73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56D3A7-C80E-6C3A-4FF3-E106DD9D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5556D8-E618-E19D-BC47-ADF78C08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02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F7D71-1EBB-6F63-9C22-6F8A0715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014265-1DB4-D792-49E9-5B38513D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CC611E-F33F-3808-A899-18564337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A0BC31-2D4E-1583-2FC7-120C3008D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974D57-191D-9E3D-5E8E-203266F88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AF8BEBE-89A5-1D27-75BC-69ED91BA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D6F51FC-59DA-5E80-11C1-3A942E98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6D16BE-E968-304D-485B-45194144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46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F4F91-74A7-C2EA-EC95-5FD7E317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E491A4-EE4E-2913-7BA9-37A76C16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9FCE6B-5E86-48EE-5ECE-ACFA2868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684561-2865-8229-7552-341B9503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4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39CCB7E-8E33-8C8E-E7D3-412CC6B1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576F09-F551-F09C-7FD7-ED6254F0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F2F7-FCE6-A06E-2776-42A0F4C9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57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789BD-A9B2-AD91-BF1B-4CF60E4A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17814-6DE8-AA40-70CC-8F2121502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527901-D522-50C9-B58F-2F940009D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8B906B-85F6-61DF-4307-6B898E52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A8BD70-F032-90A4-E2DA-ACEEC890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B860BD-B861-8B4D-4259-B1704CA4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87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0AAE8-B49F-4DA6-BFA6-8A815F28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1B5567-DC86-F57E-C0B8-81EC22A79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421A4A-85D7-4EAA-2471-029E38F30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48EB6F-0886-2453-E48F-A0A56EC6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959D69-ECE1-32AE-FC1A-72D811E9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DC5E8B-3228-3161-4D2C-5F70DEE0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1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A4FEA-AFAF-331F-8D24-5C854CA5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111A3D-173F-63D0-EE04-24F2EC024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B21BF0-843A-9616-CC74-7EB731CC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C8B67-0562-0731-092A-F0BB17CD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1590A-7F57-944A-D56D-38CA3DD8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92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C83E4D-5440-155A-AD7C-265CCC033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02CB1B-7700-C061-E331-117F9C973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C0B5B1-2CE5-1810-550B-2B4DCDC8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812DE5-CAD6-0789-F7C3-C7B615E9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AD5E98-E988-4B8D-94AC-F4C604DA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5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D9AF3F-F7C3-3516-5675-AC306D54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1C37C3-5826-4D2A-D961-61CC0EC3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A94939-DC2B-ADF4-F60F-64C73DFA5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EC7CD-0132-46A9-805B-E798C8C14E80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0E65D-165F-E7E7-4C93-9351DC998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53B26-3CFD-DA6B-F400-112A1F3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7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01ADE5-D822-535E-FB85-912A66398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5227"/>
            <a:ext cx="9144000" cy="1014736"/>
          </a:xfrm>
        </p:spPr>
        <p:txBody>
          <a:bodyPr/>
          <a:lstStyle/>
          <a:p>
            <a:r>
              <a:rPr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統計計算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426C8B-1F33-B9EC-B751-14D622A5F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1569"/>
            <a:ext cx="9144000" cy="396525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賴俊延 林采宣</a:t>
            </a:r>
          </a:p>
        </p:txBody>
      </p:sp>
    </p:spTree>
    <p:extLst>
      <p:ext uri="{BB962C8B-B14F-4D97-AF65-F5344CB8AC3E}">
        <p14:creationId xmlns:p14="http://schemas.microsoft.com/office/powerpoint/2010/main" val="428633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0C63-214C-F0A1-F2EF-88E58B9B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7B4D66-1C44-06D0-14E8-8C2AB300F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976"/>
            <a:ext cx="9144000" cy="822378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Cambria" panose="02040503050406030204" pitchFamily="18" charset="0"/>
              </a:rPr>
              <a:t>Outline</a:t>
            </a:r>
            <a:endParaRPr lang="zh-TW" altLang="en-US" sz="4400" dirty="0">
              <a:latin typeface="Cambria" panose="02040503050406030204" pitchFamily="18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86E8AEF-3B5F-FF4E-F7F4-2B2788D0E05F}"/>
              </a:ext>
            </a:extLst>
          </p:cNvPr>
          <p:cNvGrpSpPr/>
          <p:nvPr/>
        </p:nvGrpSpPr>
        <p:grpSpPr>
          <a:xfrm>
            <a:off x="1695163" y="2007476"/>
            <a:ext cx="4400838" cy="488847"/>
            <a:chOff x="1153295" y="1606171"/>
            <a:chExt cx="4400838" cy="4888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F34242F-7A88-F926-37BD-BCB91600C3D8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935644B-FC8F-41EC-4D7C-CFD9EEFF14A8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標題 1">
              <a:extLst>
                <a:ext uri="{FF2B5EF4-FFF2-40B4-BE49-F238E27FC236}">
                  <a16:creationId xmlns:a16="http://schemas.microsoft.com/office/drawing/2014/main" id="{A07F6D77-1CBC-4242-BEA7-4623FB27BDC8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9" name="副標題 2">
              <a:extLst>
                <a:ext uri="{FF2B5EF4-FFF2-40B4-BE49-F238E27FC236}">
                  <a16:creationId xmlns:a16="http://schemas.microsoft.com/office/drawing/2014/main" id="{93EFCD4D-E08E-4204-FF71-1BD09C05CA26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370149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Introduction and Problem Setup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0" name="副標題 2">
            <a:extLst>
              <a:ext uri="{FF2B5EF4-FFF2-40B4-BE49-F238E27FC236}">
                <a16:creationId xmlns:a16="http://schemas.microsoft.com/office/drawing/2014/main" id="{AAE051B7-B045-30D2-5F9D-EE27141D9BF5}"/>
              </a:ext>
            </a:extLst>
          </p:cNvPr>
          <p:cNvSpPr txBox="1">
            <a:spLocks/>
          </p:cNvSpPr>
          <p:nvPr/>
        </p:nvSpPr>
        <p:spPr>
          <a:xfrm>
            <a:off x="1814930" y="2610071"/>
            <a:ext cx="4628461" cy="2803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Monty Hall Problem</a:t>
            </a: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、</a:t>
            </a: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Simulation Framework</a:t>
            </a:r>
          </a:p>
          <a:p>
            <a:pPr>
              <a:lnSpc>
                <a:spcPct val="100000"/>
              </a:lnSpc>
            </a:pPr>
            <a:endParaRPr lang="zh-TW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0FE4B24-E59E-73D0-CEAF-EBB4CD5DBBB3}"/>
              </a:ext>
            </a:extLst>
          </p:cNvPr>
          <p:cNvGrpSpPr/>
          <p:nvPr/>
        </p:nvGrpSpPr>
        <p:grpSpPr>
          <a:xfrm>
            <a:off x="1695163" y="3071546"/>
            <a:ext cx="4748228" cy="488847"/>
            <a:chOff x="1153295" y="1606171"/>
            <a:chExt cx="4748228" cy="48884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7D8EC00-5776-EBCA-7AEA-DEFD6D4257EF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860CF99-C0C0-D50D-46C9-0E61EAAB23A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9" name="標題 1">
              <a:extLst>
                <a:ext uri="{FF2B5EF4-FFF2-40B4-BE49-F238E27FC236}">
                  <a16:creationId xmlns:a16="http://schemas.microsoft.com/office/drawing/2014/main" id="{764627B3-9B72-F6CE-F016-8BA1C0D6B49A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20" name="副標題 2">
              <a:extLst>
                <a:ext uri="{FF2B5EF4-FFF2-40B4-BE49-F238E27FC236}">
                  <a16:creationId xmlns:a16="http://schemas.microsoft.com/office/drawing/2014/main" id="{8255B0D1-17E1-3C3C-D6F6-75D25EF1730A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21" name="副標題 2">
            <a:extLst>
              <a:ext uri="{FF2B5EF4-FFF2-40B4-BE49-F238E27FC236}">
                <a16:creationId xmlns:a16="http://schemas.microsoft.com/office/drawing/2014/main" id="{A8B468E4-4351-B61C-B8D6-62BF0AB8B840}"/>
              </a:ext>
            </a:extLst>
          </p:cNvPr>
          <p:cNvSpPr txBox="1">
            <a:spLocks/>
          </p:cNvSpPr>
          <p:nvPr/>
        </p:nvSpPr>
        <p:spPr>
          <a:xfrm>
            <a:off x="1814929" y="3596358"/>
            <a:ext cx="8853071" cy="1675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213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C62C-29F0-BC46-1F46-5999EA47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9A8DF34-799E-B88A-19F6-5782A27A82EE}"/>
              </a:ext>
            </a:extLst>
          </p:cNvPr>
          <p:cNvGrpSpPr/>
          <p:nvPr/>
        </p:nvGrpSpPr>
        <p:grpSpPr>
          <a:xfrm>
            <a:off x="821690" y="647642"/>
            <a:ext cx="4400838" cy="488847"/>
            <a:chOff x="1153295" y="1606171"/>
            <a:chExt cx="4400838" cy="4888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95018E-FA53-8708-E75E-492B23BAD872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652474-4971-C79B-89A8-DF2C74331AC5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標題 1">
              <a:extLst>
                <a:ext uri="{FF2B5EF4-FFF2-40B4-BE49-F238E27FC236}">
                  <a16:creationId xmlns:a16="http://schemas.microsoft.com/office/drawing/2014/main" id="{DDC77310-FDB7-A2F0-C0D4-6FB8FCC18AF3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9" name="副標題 2">
              <a:extLst>
                <a:ext uri="{FF2B5EF4-FFF2-40B4-BE49-F238E27FC236}">
                  <a16:creationId xmlns:a16="http://schemas.microsoft.com/office/drawing/2014/main" id="{F9481A6E-9273-676A-D34C-7F5D011C51F5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370149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Introduction and Problem Setup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2A41C8-D689-2AC5-9147-092A77CF22C2}"/>
              </a:ext>
            </a:extLst>
          </p:cNvPr>
          <p:cNvSpPr txBox="1"/>
          <p:nvPr/>
        </p:nvSpPr>
        <p:spPr>
          <a:xfrm>
            <a:off x="1055270" y="2056766"/>
            <a:ext cx="6725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三扇門</a:t>
            </a:r>
            <a:endParaRPr kumimoji="1" lang="en-US" altLang="zh-TW" dirty="0"/>
          </a:p>
          <a:p>
            <a:r>
              <a:rPr kumimoji="1" lang="en-US" altLang="zh-TW" dirty="0"/>
              <a:t>1</a:t>
            </a:r>
            <a:r>
              <a:rPr kumimoji="1" lang="zh-TW" altLang="en-US" dirty="0"/>
              <a:t>參賽者第一次選到跑車</a:t>
            </a:r>
            <a:endParaRPr kumimoji="1" lang="en-US" altLang="zh-TW" dirty="0"/>
          </a:p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a.</a:t>
            </a:r>
            <a:r>
              <a:rPr kumimoji="1" lang="zh-TW" altLang="en-US" dirty="0"/>
              <a:t>主持人知道跑車在哪</a:t>
            </a:r>
            <a:endParaRPr kumimoji="1" lang="en-US" altLang="zh-TW" dirty="0"/>
          </a:p>
          <a:p>
            <a:r>
              <a:rPr kumimoji="1" lang="zh-TW" altLang="en-US" dirty="0"/>
              <a:t>  </a:t>
            </a:r>
            <a:r>
              <a:rPr kumimoji="1" lang="en-US" altLang="zh-TW" dirty="0"/>
              <a:t> b.</a:t>
            </a:r>
            <a:r>
              <a:rPr kumimoji="1" lang="zh-TW" altLang="en-US" dirty="0"/>
              <a:t>主持人不知道跑車在哪</a:t>
            </a:r>
          </a:p>
        </p:txBody>
      </p:sp>
    </p:spTree>
    <p:extLst>
      <p:ext uri="{BB962C8B-B14F-4D97-AF65-F5344CB8AC3E}">
        <p14:creationId xmlns:p14="http://schemas.microsoft.com/office/powerpoint/2010/main" val="28338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EFD0CC-C205-117C-D1C2-3A87A61F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75E865-0F02-3CD2-814C-FA241DC8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8" y="1803996"/>
            <a:ext cx="5259718" cy="384327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9833074-4D92-AE6C-2310-3ED3BD2CC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30" y="1803997"/>
            <a:ext cx="5774582" cy="402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9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38D2-7B20-35C1-DEDA-E15551E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868441-1C5C-769B-DC96-8A3C09AA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9E6D6E5-EB2B-6C51-26F7-D992CE97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21" y="1840833"/>
            <a:ext cx="5615965" cy="406569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8E4AB80-C3DA-E510-BFA5-59C8AA20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686" y="1840833"/>
            <a:ext cx="5956944" cy="41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8056-4B0E-3F91-83BB-F5CE0CD8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131E7-9D31-0160-EC54-C566688B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619283-1AFC-8B7F-0D76-10B61004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85" y="1795422"/>
            <a:ext cx="5979183" cy="401703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3A1776E-1336-87F8-9C10-943F2BEA6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14" y="2051223"/>
            <a:ext cx="524160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9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B759-D638-BEF0-56D4-B73A30A3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303D47-C5C2-C7AD-6A01-75CCA5F1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AF7C7F-548F-A280-F268-52B0E903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02" y="1690688"/>
            <a:ext cx="6149747" cy="411483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916A37-E6B8-0FB0-9301-C678D187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780231"/>
              </p:ext>
            </p:extLst>
          </p:nvPr>
        </p:nvGraphicFramePr>
        <p:xfrm>
          <a:off x="6631958" y="2508008"/>
          <a:ext cx="51330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005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317201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Var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內建的函數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0.0002325059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0.332992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0.0002223783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547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 with controlling var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0.333429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0.0001163433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0893D44-E615-E39B-2469-B5A8A6982E59}"/>
              </a:ext>
            </a:extLst>
          </p:cNvPr>
          <p:cNvSpPr txBox="1"/>
          <p:nvPr/>
        </p:nvSpPr>
        <p:spPr>
          <a:xfrm>
            <a:off x="6556973" y="5006753"/>
            <a:ext cx="5549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Variance reduction = 47.68226</a:t>
            </a:r>
            <a:r>
              <a:rPr lang="zh-TW" altLang="en-US" sz="2400" dirty="0"/>
              <a:t> </a:t>
            </a:r>
            <a:r>
              <a:rPr lang="en-US" altLang="zh-TW" sz="2400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71765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E1C0-131B-1E26-1B6A-7E991D4A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981A46-C57C-3CC3-143B-73F53F95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第一次選到跑車的機率估計值分布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6B06BA-EE5B-82E6-61A4-98E7C594F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02" y="1690688"/>
            <a:ext cx="6149747" cy="411483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E99BEDC-F326-E9E8-3AE1-77122D08FAC5}"/>
              </a:ext>
            </a:extLst>
          </p:cNvPr>
          <p:cNvGraphicFramePr>
            <a:graphicFrameLocks noGrp="1"/>
          </p:cNvGraphicFramePr>
          <p:nvPr/>
        </p:nvGraphicFramePr>
        <p:xfrm>
          <a:off x="6631958" y="2508008"/>
          <a:ext cx="51330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005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11005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317201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Var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內建的函數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0.0002325059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317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0.332992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0.0002223783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547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 with controlling var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0.333429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0.0001163433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DBC7DBD7-C045-1590-1E7C-5CDCD08D347D}"/>
              </a:ext>
            </a:extLst>
          </p:cNvPr>
          <p:cNvSpPr txBox="1"/>
          <p:nvPr/>
        </p:nvSpPr>
        <p:spPr>
          <a:xfrm>
            <a:off x="6556973" y="5006753"/>
            <a:ext cx="5549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Variance reduction = 47.68226</a:t>
            </a:r>
            <a:r>
              <a:rPr lang="zh-TW" altLang="en-US" sz="2400" dirty="0"/>
              <a:t> </a:t>
            </a:r>
            <a:r>
              <a:rPr lang="en-US" altLang="zh-TW" sz="2400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08615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830D-8361-A4E9-3A24-3C4E343E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9A941DF-54BE-BCC5-EE87-28B4B5E9EF22}"/>
              </a:ext>
            </a:extLst>
          </p:cNvPr>
          <p:cNvSpPr txBox="1"/>
          <p:nvPr/>
        </p:nvSpPr>
        <p:spPr>
          <a:xfrm>
            <a:off x="460184" y="344080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a.</a:t>
            </a:r>
            <a:r>
              <a:rPr kumimoji="1" lang="zh-TW" altLang="en-US" dirty="0"/>
              <a:t>主持人知道跑車在哪</a:t>
            </a:r>
            <a:endParaRPr kumimoji="1"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F4C63F7-F4E0-8A9C-C418-815A7ECC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" y="2169203"/>
            <a:ext cx="4143755" cy="299173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6716844-0934-55A2-6161-01E9AB1D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423" y="2169203"/>
            <a:ext cx="4143755" cy="299173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83BB405-05D1-C873-D74A-D13551890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45" y="2169203"/>
            <a:ext cx="4143755" cy="299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2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CDD9-AEA2-6414-CB0A-865D5520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2676D721-A8AC-F80D-1573-535BAD13DB5D}"/>
              </a:ext>
            </a:extLst>
          </p:cNvPr>
          <p:cNvSpPr txBox="1"/>
          <p:nvPr/>
        </p:nvSpPr>
        <p:spPr>
          <a:xfrm>
            <a:off x="460184" y="344080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a.</a:t>
            </a:r>
            <a:r>
              <a:rPr kumimoji="1" lang="zh-TW" altLang="en-US" dirty="0"/>
              <a:t>主持人知道跑車在哪</a:t>
            </a:r>
            <a:r>
              <a:rPr kumimoji="1" lang="en-US" altLang="zh-TW" dirty="0"/>
              <a:t>- </a:t>
            </a:r>
            <a:r>
              <a:rPr kumimoji="1" lang="zh-TW" altLang="en-US" dirty="0">
                <a:solidFill>
                  <a:srgbClr val="FF0000"/>
                </a:solidFill>
              </a:rPr>
              <a:t>還沒做</a:t>
            </a:r>
            <a:r>
              <a:rPr kumimoji="1" lang="en-US" altLang="zh-TW" dirty="0">
                <a:solidFill>
                  <a:srgbClr val="FF0000"/>
                </a:solidFill>
              </a:rPr>
              <a:t>variance reduction</a:t>
            </a:r>
          </a:p>
        </p:txBody>
      </p:sp>
    </p:spTree>
    <p:extLst>
      <p:ext uri="{BB962C8B-B14F-4D97-AF65-F5344CB8AC3E}">
        <p14:creationId xmlns:p14="http://schemas.microsoft.com/office/powerpoint/2010/main" val="225237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9C12-3FD5-FE39-1875-963BE63A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BE98C1BF-7B2F-5D9E-88D2-9CB1465CAD0F}"/>
              </a:ext>
            </a:extLst>
          </p:cNvPr>
          <p:cNvSpPr txBox="1"/>
          <p:nvPr/>
        </p:nvSpPr>
        <p:spPr>
          <a:xfrm>
            <a:off x="460184" y="344080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zh-TW" altLang="en-US" dirty="0"/>
              <a:t>   </a:t>
            </a:r>
            <a:r>
              <a:rPr kumimoji="1" lang="en-US" altLang="zh-TW" dirty="0"/>
              <a:t>b.</a:t>
            </a:r>
            <a:r>
              <a:rPr kumimoji="1" lang="zh-TW" altLang="en-US" dirty="0"/>
              <a:t>主持人不知道跑車在哪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42374F-C051-49E8-7C44-7D19A0AC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123" y="2169203"/>
            <a:ext cx="4143754" cy="299173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337C5DB-A9DF-55FB-E8CB-C37AD72E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9" y="2169203"/>
            <a:ext cx="4143755" cy="299173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7ADF133-D9ED-D6B3-357C-1C3982517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828" y="2169203"/>
            <a:ext cx="4143754" cy="29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5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75C9-D822-B54D-8CEA-58F7BCCB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88AA62A5-1478-4FEE-D28F-E64EF1676486}"/>
              </a:ext>
            </a:extLst>
          </p:cNvPr>
          <p:cNvSpPr txBox="1"/>
          <p:nvPr/>
        </p:nvSpPr>
        <p:spPr>
          <a:xfrm>
            <a:off x="460184" y="344080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a.</a:t>
            </a:r>
            <a:r>
              <a:rPr kumimoji="1" lang="zh-TW" altLang="en-US" dirty="0"/>
              <a:t>主持人知道跑車在哪</a:t>
            </a:r>
            <a:r>
              <a:rPr kumimoji="1" lang="en-US" altLang="zh-TW" dirty="0"/>
              <a:t>- </a:t>
            </a:r>
            <a:r>
              <a:rPr kumimoji="1" lang="zh-TW" altLang="en-US" dirty="0">
                <a:solidFill>
                  <a:srgbClr val="FF0000"/>
                </a:solidFill>
              </a:rPr>
              <a:t>還沒做</a:t>
            </a:r>
            <a:r>
              <a:rPr kumimoji="1" lang="en-US" altLang="zh-TW" dirty="0">
                <a:solidFill>
                  <a:srgbClr val="FF0000"/>
                </a:solidFill>
              </a:rPr>
              <a:t>variance reduction</a:t>
            </a:r>
          </a:p>
        </p:txBody>
      </p:sp>
    </p:spTree>
    <p:extLst>
      <p:ext uri="{BB962C8B-B14F-4D97-AF65-F5344CB8AC3E}">
        <p14:creationId xmlns:p14="http://schemas.microsoft.com/office/powerpoint/2010/main" val="71646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122F-7C5E-0B16-8E80-00854308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1BCF6-A318-6903-FB9F-AE12CE87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F8968E-141C-BE08-510D-61A9FF68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39" y="1690688"/>
            <a:ext cx="7131741" cy="46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96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549A-B877-38A5-871C-2F415C1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24B85-DFDD-FE02-FBD4-DA9A9AB1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1C4616-12E6-FEC4-3747-3FEE476B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01" y="1816812"/>
            <a:ext cx="6761529" cy="434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5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6344-36A4-7549-6CB3-49767817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7B00DA-5128-36BA-113F-3BF2D43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011E1F3-5A75-67C1-FBA5-958989FE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518" y="1587062"/>
            <a:ext cx="7124522" cy="49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7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E065-1083-E3AA-89D2-48DFFEBB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87F900-06DA-417E-F0A2-6F535EBD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換門選到跑車的機率估計值分布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5BCFDE0-6EDE-8F8F-A93B-A94BFABF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9" y="1948027"/>
            <a:ext cx="7106608" cy="3470867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5A1E40-B754-2C2C-3A0F-8B998A52A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20196"/>
              </p:ext>
            </p:extLst>
          </p:nvPr>
        </p:nvGraphicFramePr>
        <p:xfrm>
          <a:off x="7456349" y="1814536"/>
          <a:ext cx="446950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836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489836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4898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323693">
                <a:tc>
                  <a:txBody>
                    <a:bodyPr/>
                    <a:lstStyle/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Var 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32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內建的函數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0.666337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0.0002281916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323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0.666547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0.0002395794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558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Inverse function with controlling var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0.667157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0.0001117501</a:t>
                      </a:r>
                    </a:p>
                    <a:p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F62C18D-4D45-A946-7FC7-EEC004040125}"/>
              </a:ext>
            </a:extLst>
          </p:cNvPr>
          <p:cNvSpPr txBox="1"/>
          <p:nvPr/>
        </p:nvSpPr>
        <p:spPr>
          <a:xfrm>
            <a:off x="7456349" y="4957229"/>
            <a:ext cx="453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Variance reduction = 47.47977%</a:t>
            </a:r>
          </a:p>
        </p:txBody>
      </p:sp>
    </p:spTree>
    <p:extLst>
      <p:ext uri="{BB962C8B-B14F-4D97-AF65-F5344CB8AC3E}">
        <p14:creationId xmlns:p14="http://schemas.microsoft.com/office/powerpoint/2010/main" val="97290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DE13-8610-23BB-43BF-32B9622E8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E1D427A-8A51-E2BC-1169-82258C83EB5A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865710-AA6B-808A-E80C-DBA0C9B0FF22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C45C06-7D7B-84EF-A3CB-AD3BADE15EC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AC238A57-A3C5-4FFB-D9EC-B7556E1BC23E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F31BE1A4-81D9-91E5-A9AE-CF89B208262B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C71D08F-9B15-D375-6873-7EC899FBFE2C}"/>
              </a:ext>
            </a:extLst>
          </p:cNvPr>
          <p:cNvSpPr txBox="1"/>
          <p:nvPr/>
        </p:nvSpPr>
        <p:spPr>
          <a:xfrm>
            <a:off x="1055270" y="2056766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+mn-ea"/>
              </a:rPr>
              <a:t>Bootstrap</a:t>
            </a:r>
          </a:p>
          <a:p>
            <a:r>
              <a:rPr kumimoji="1" lang="zh-TW" altLang="en-US" dirty="0">
                <a:latin typeface="+mn-ea"/>
              </a:rPr>
              <a:t>估計值的變異程度、信賴區間</a:t>
            </a:r>
          </a:p>
        </p:txBody>
      </p:sp>
    </p:spTree>
    <p:extLst>
      <p:ext uri="{BB962C8B-B14F-4D97-AF65-F5344CB8AC3E}">
        <p14:creationId xmlns:p14="http://schemas.microsoft.com/office/powerpoint/2010/main" val="3017537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529A-3711-E449-E949-CF78506B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8731B-FB1B-E71D-6971-5FC80C05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</a:t>
            </a:r>
            <a:r>
              <a:rPr lang="en-US" altLang="zh-TW" dirty="0"/>
              <a:t>bootstrap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04CD31-E58F-A599-9C8F-0CBA9E39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1247"/>
            <a:ext cx="6698216" cy="511162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4067146-CC14-C1C9-4C9B-61DAB749A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59900"/>
              </p:ext>
            </p:extLst>
          </p:nvPr>
        </p:nvGraphicFramePr>
        <p:xfrm>
          <a:off x="5938344" y="3429000"/>
          <a:ext cx="5962868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717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490717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boostrap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0.6667018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2.51497e-07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3.550272e-05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79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A63C-014D-A7DB-F9B3-77169989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A326F09-B5D7-AB1E-3741-E5480E8A74EB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EBE332C-4E0D-DFE3-8F38-15CA7550EFD2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AA80E5B-1CD7-A353-65D5-846FD93D4455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4170CFBA-2E90-A493-9D04-2F3E08931C70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B178E08B-7494-9F3E-CDB1-8E8F5A0D96A0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C11AA6B-0D40-6A69-04B6-4807DECA96FD}"/>
              </a:ext>
            </a:extLst>
          </p:cNvPr>
          <p:cNvSpPr txBox="1"/>
          <p:nvPr/>
        </p:nvSpPr>
        <p:spPr>
          <a:xfrm>
            <a:off x="1055270" y="2056766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Permutation Test</a:t>
            </a:r>
          </a:p>
          <a:p>
            <a:r>
              <a:rPr kumimoji="1" lang="en-US" altLang="zh-TW" dirty="0">
                <a:latin typeface="+mj-ea"/>
                <a:ea typeface="+mj-ea"/>
              </a:rPr>
              <a:t>Leave one out:</a:t>
            </a:r>
            <a:r>
              <a:rPr kumimoji="1" lang="zh-TW" altLang="en-US" dirty="0">
                <a:latin typeface="+mj-ea"/>
                <a:ea typeface="+mj-ea"/>
              </a:rPr>
              <a:t>看有沒有人會特別影響整體平均、勝率的穩定性</a:t>
            </a:r>
          </a:p>
        </p:txBody>
      </p:sp>
    </p:spTree>
    <p:extLst>
      <p:ext uri="{BB962C8B-B14F-4D97-AF65-F5344CB8AC3E}">
        <p14:creationId xmlns:p14="http://schemas.microsoft.com/office/powerpoint/2010/main" val="392733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C37E-C445-183E-3B38-D86BA081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F94FEA-EE65-A5F9-1DCF-758820CD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換門選到跑車的機率</a:t>
            </a:r>
            <a:r>
              <a:rPr lang="en-US" altLang="zh-TW" dirty="0" err="1"/>
              <a:t>jacknife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A3A811-8555-30A2-331E-642692DC6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25" y="1860331"/>
            <a:ext cx="7615205" cy="387179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7F677F-7A99-589A-149F-1B4CA7C8F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287789"/>
              </p:ext>
            </p:extLst>
          </p:nvPr>
        </p:nvGraphicFramePr>
        <p:xfrm>
          <a:off x="5738649" y="3351650"/>
          <a:ext cx="6348248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062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Jacknife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3.558749e-05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566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182D-7C12-71BA-C8D7-7A4F1FBD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83C240DD-3CE7-E93A-C9EE-1CEF4E673B40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4D71610-C82F-F795-675D-DD1EE2391E14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7748B1-9A99-86DD-DA54-DAD4529548CE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68EC98CF-851B-7D43-791C-258F2532C0D3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22F13FBE-F481-A68E-4AEA-68D86AE22562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2C7D8CA-AD74-4804-226B-C9E562596176}"/>
              </a:ext>
            </a:extLst>
          </p:cNvPr>
          <p:cNvSpPr txBox="1"/>
          <p:nvPr/>
        </p:nvSpPr>
        <p:spPr>
          <a:xfrm>
            <a:off x="1055270" y="2056766"/>
            <a:ext cx="672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Permutation Test</a:t>
            </a:r>
          </a:p>
          <a:p>
            <a:r>
              <a:rPr kumimoji="1" lang="zh-TW" altLang="en-US" dirty="0">
                <a:latin typeface="+mj-ea"/>
                <a:ea typeface="+mj-ea"/>
              </a:rPr>
              <a:t>取後不放回 檢定是否同分佈</a:t>
            </a:r>
          </a:p>
        </p:txBody>
      </p:sp>
    </p:spTree>
    <p:extLst>
      <p:ext uri="{BB962C8B-B14F-4D97-AF65-F5344CB8AC3E}">
        <p14:creationId xmlns:p14="http://schemas.microsoft.com/office/powerpoint/2010/main" val="9594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470C-942F-50EF-BB2C-301A31C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C53A5-707F-4306-DDCD-A2C176C6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換門與不換門選到跑車的機率是否有差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8EA847-9F59-F906-4012-B8F72ACB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37" y="1877042"/>
            <a:ext cx="9039726" cy="4507192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D14FB93-EA99-6085-49E0-7EA2ABC2D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34159"/>
              </p:ext>
            </p:extLst>
          </p:nvPr>
        </p:nvGraphicFramePr>
        <p:xfrm>
          <a:off x="3547770" y="3983752"/>
          <a:ext cx="7197964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491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Jacknife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0.0001991734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0.333292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0.007416886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25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3B4C-D302-521B-B6BF-9F8FE9C5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106CDAD-1614-C469-7F78-1B8667FC5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68" y="1877030"/>
            <a:ext cx="4727943" cy="429736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FA45DE5-D5DF-D768-B4E0-2E27EC54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77030"/>
            <a:ext cx="4727943" cy="4297362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A8C8E759-A2AB-716D-7F47-16EE1D8EE963}"/>
              </a:ext>
            </a:extLst>
          </p:cNvPr>
          <p:cNvGrpSpPr/>
          <p:nvPr/>
        </p:nvGrpSpPr>
        <p:grpSpPr>
          <a:xfrm>
            <a:off x="821688" y="647641"/>
            <a:ext cx="10548621" cy="488847"/>
            <a:chOff x="1153294" y="1606171"/>
            <a:chExt cx="10548621" cy="48884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06580F3-5FEF-51BE-70D5-EF83F83F12EE}"/>
                </a:ext>
              </a:extLst>
            </p:cNvPr>
            <p:cNvSpPr/>
            <p:nvPr/>
          </p:nvSpPr>
          <p:spPr>
            <a:xfrm>
              <a:off x="1153294" y="1606171"/>
              <a:ext cx="1027420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4749099-920F-4CED-724A-006EA805C950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2" name="標題 1">
              <a:extLst>
                <a:ext uri="{FF2B5EF4-FFF2-40B4-BE49-F238E27FC236}">
                  <a16:creationId xmlns:a16="http://schemas.microsoft.com/office/drawing/2014/main" id="{221E80E3-B401-EDF4-CE09-F97B59CEB58F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3" name="副標題 2">
              <a:extLst>
                <a:ext uri="{FF2B5EF4-FFF2-40B4-BE49-F238E27FC236}">
                  <a16:creationId xmlns:a16="http://schemas.microsoft.com/office/drawing/2014/main" id="{D65B9D9E-26A7-B68C-9ABC-0598A6202712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9965369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: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Markov Chain Monte Carlo (MCMC)-Metropolis Hastings Algorithm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5A528EC-9606-80C1-6346-7A448039C161}"/>
              </a:ext>
            </a:extLst>
          </p:cNvPr>
          <p:cNvSpPr txBox="1"/>
          <p:nvPr/>
        </p:nvSpPr>
        <p:spPr>
          <a:xfrm>
            <a:off x="821688" y="1352134"/>
            <a:ext cx="1728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latinLnBrk="1">
              <a:buFont typeface="Arial" panose="020B0604020202020204" pitchFamily="34" charset="0"/>
              <a:buChar char="•"/>
            </a:pPr>
            <a:r>
              <a:rPr lang="en-US" altLang="zh-TW" sz="1600" i="0" kern="1200" dirty="0" err="1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N_iter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: 10000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76D41B-F114-F17A-85F6-B32029DA1AAF}"/>
              </a:ext>
            </a:extLst>
          </p:cNvPr>
          <p:cNvSpPr txBox="1"/>
          <p:nvPr/>
        </p:nvSpPr>
        <p:spPr>
          <a:xfrm>
            <a:off x="4045922" y="2606499"/>
            <a:ext cx="2050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zh-TW" sz="1400" dirty="0">
                <a:solidFill>
                  <a:schemeClr val="accent1"/>
                </a:solidFill>
                <a:latin typeface="Cambria" panose="02040503050406030204" pitchFamily="18" charset="0"/>
              </a:rPr>
              <a:t>Probability:0.6653407</a:t>
            </a:r>
            <a:endParaRPr lang="en-US" altLang="zh-TW" sz="1400" i="0" kern="1200" dirty="0">
              <a:solidFill>
                <a:schemeClr val="accent1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BB40A4-0A5E-37E3-AA0B-42E103A5B6E8}"/>
              </a:ext>
            </a:extLst>
          </p:cNvPr>
          <p:cNvSpPr txBox="1"/>
          <p:nvPr/>
        </p:nvSpPr>
        <p:spPr>
          <a:xfrm>
            <a:off x="9160466" y="2606499"/>
            <a:ext cx="2050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zh-TW" sz="1400" dirty="0">
                <a:solidFill>
                  <a:schemeClr val="accent1"/>
                </a:solidFill>
                <a:latin typeface="Cambria" panose="02040503050406030204" pitchFamily="18" charset="0"/>
              </a:rPr>
              <a:t>Probability: 0.3391910</a:t>
            </a:r>
            <a:endParaRPr lang="en-US" altLang="zh-TW" sz="1400" i="0" kern="1200" dirty="0">
              <a:solidFill>
                <a:schemeClr val="accent1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5D49-8009-930F-FDBF-1130924B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方塊 18">
            <a:extLst>
              <a:ext uri="{FF2B5EF4-FFF2-40B4-BE49-F238E27FC236}">
                <a16:creationId xmlns:a16="http://schemas.microsoft.com/office/drawing/2014/main" id="{8AC0167C-6A07-356C-0184-B5C16C6F5A6A}"/>
              </a:ext>
            </a:extLst>
          </p:cNvPr>
          <p:cNvSpPr txBox="1"/>
          <p:nvPr/>
        </p:nvSpPr>
        <p:spPr>
          <a:xfrm>
            <a:off x="3413833" y="6096526"/>
            <a:ext cx="977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latin typeface="+mj-ea"/>
                <a:ea typeface="+mj-ea"/>
              </a:rPr>
              <a:t>burn-in </a:t>
            </a:r>
            <a:r>
              <a:rPr kumimoji="1" lang="en" altLang="zh-TW" dirty="0" err="1">
                <a:latin typeface="+mj-ea"/>
                <a:ea typeface="+mj-ea"/>
              </a:rPr>
              <a:t>period:chain</a:t>
            </a:r>
            <a:r>
              <a:rPr kumimoji="1" lang="zh-TW" altLang="en-US" dirty="0">
                <a:latin typeface="+mj-ea"/>
                <a:ea typeface="+mj-ea"/>
              </a:rPr>
              <a:t>前</a:t>
            </a:r>
            <a:r>
              <a:rPr kumimoji="1" lang="en-US" altLang="zh-TW" dirty="0">
                <a:latin typeface="+mj-ea"/>
                <a:ea typeface="+mj-ea"/>
              </a:rPr>
              <a:t>2000</a:t>
            </a:r>
            <a:r>
              <a:rPr kumimoji="1" lang="zh-TW" altLang="en-US" dirty="0">
                <a:latin typeface="+mj-ea"/>
                <a:ea typeface="+mj-ea"/>
              </a:rPr>
              <a:t>次的抽樣先不用 </a:t>
            </a:r>
            <a:r>
              <a:rPr kumimoji="1" lang="en-US" altLang="zh-TW" dirty="0">
                <a:latin typeface="+mj-ea"/>
                <a:ea typeface="+mj-ea"/>
              </a:rPr>
              <a:t>-&gt;</a:t>
            </a:r>
            <a:r>
              <a:rPr kumimoji="1" lang="zh-TW" altLang="en-US" dirty="0">
                <a:latin typeface="+mj-ea"/>
                <a:ea typeface="+mj-ea"/>
              </a:rPr>
              <a:t>從</a:t>
            </a:r>
            <a:r>
              <a:rPr kumimoji="1" lang="en" altLang="zh-TW" dirty="0">
                <a:latin typeface="+mj-ea"/>
                <a:ea typeface="+mj-ea"/>
              </a:rPr>
              <a:t>trace plot</a:t>
            </a:r>
            <a:r>
              <a:rPr kumimoji="1" lang="zh-TW" altLang="en-US" dirty="0">
                <a:latin typeface="+mj-ea"/>
                <a:ea typeface="+mj-ea"/>
              </a:rPr>
              <a:t>可知前期波動大</a:t>
            </a:r>
            <a:endParaRPr kumimoji="1" lang="en-US" altLang="zh-TW" dirty="0">
              <a:latin typeface="+mj-ea"/>
              <a:ea typeface="+mj-ea"/>
            </a:endParaRPr>
          </a:p>
          <a:p>
            <a:r>
              <a:rPr kumimoji="1" lang="zh-TW" altLang="en-US" dirty="0">
                <a:latin typeface="+mj-ea"/>
                <a:ea typeface="+mj-ea"/>
              </a:rPr>
              <a:t>兩個抽樣機率的分佈都是穩定落在相同區間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3D3DFC-9AA6-32DF-976F-274A98BC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90" y="1690688"/>
            <a:ext cx="4847287" cy="440583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FB4DC99-80A4-3478-C531-1F89234B8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0688"/>
            <a:ext cx="4847288" cy="4405838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46DB5AA6-CEBA-9A31-347D-D74F1A1D1962}"/>
              </a:ext>
            </a:extLst>
          </p:cNvPr>
          <p:cNvGrpSpPr/>
          <p:nvPr/>
        </p:nvGrpSpPr>
        <p:grpSpPr>
          <a:xfrm>
            <a:off x="821688" y="647641"/>
            <a:ext cx="10548621" cy="488847"/>
            <a:chOff x="1153294" y="1606171"/>
            <a:chExt cx="10548621" cy="48884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895DFB-BE39-2F2C-A46B-CB435DB028CB}"/>
                </a:ext>
              </a:extLst>
            </p:cNvPr>
            <p:cNvSpPr/>
            <p:nvPr/>
          </p:nvSpPr>
          <p:spPr>
            <a:xfrm>
              <a:off x="1153294" y="1606171"/>
              <a:ext cx="1027420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C120AB-7B4A-833B-90FF-304DFAE8A174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5" name="標題 1">
              <a:extLst>
                <a:ext uri="{FF2B5EF4-FFF2-40B4-BE49-F238E27FC236}">
                  <a16:creationId xmlns:a16="http://schemas.microsoft.com/office/drawing/2014/main" id="{6C2C353D-995F-FF3D-A6EB-F5A094EE3329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6" name="副標題 2">
              <a:extLst>
                <a:ext uri="{FF2B5EF4-FFF2-40B4-BE49-F238E27FC236}">
                  <a16:creationId xmlns:a16="http://schemas.microsoft.com/office/drawing/2014/main" id="{31EF9FCB-411E-434C-75DC-0FB8889DEA0C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9965369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: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Markov Chain Monte Carlo (MCMC)-Metropolis Hastings Algorithm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E527870-A8BB-17E5-17CD-611CDF0ACBF4}"/>
              </a:ext>
            </a:extLst>
          </p:cNvPr>
          <p:cNvCxnSpPr>
            <a:cxnSpLocks/>
          </p:cNvCxnSpPr>
          <p:nvPr/>
        </p:nvCxnSpPr>
        <p:spPr>
          <a:xfrm>
            <a:off x="2514600" y="2423160"/>
            <a:ext cx="0" cy="28575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9614B7F-0BCC-8D96-9289-A7A80FC4BF2A}"/>
              </a:ext>
            </a:extLst>
          </p:cNvPr>
          <p:cNvCxnSpPr>
            <a:cxnSpLocks/>
          </p:cNvCxnSpPr>
          <p:nvPr/>
        </p:nvCxnSpPr>
        <p:spPr>
          <a:xfrm>
            <a:off x="7616952" y="2423160"/>
            <a:ext cx="0" cy="28575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20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0DD20-2ADD-EC2A-0692-B35AB134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樹狀圖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6939BA04-CB6D-245C-8234-644B782576C0}"/>
              </a:ext>
            </a:extLst>
          </p:cNvPr>
          <p:cNvSpPr/>
          <p:nvPr/>
        </p:nvSpPr>
        <p:spPr>
          <a:xfrm rot="19599261">
            <a:off x="4057998" y="2503038"/>
            <a:ext cx="1173949" cy="23671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84ED3043-9630-1085-C82E-F02E58A71C39}"/>
              </a:ext>
            </a:extLst>
          </p:cNvPr>
          <p:cNvSpPr/>
          <p:nvPr/>
        </p:nvSpPr>
        <p:spPr>
          <a:xfrm rot="1450683">
            <a:off x="4025061" y="4423800"/>
            <a:ext cx="1173949" cy="2580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C40B2B22-740C-827B-93AE-5AF759499A08}"/>
              </a:ext>
            </a:extLst>
          </p:cNvPr>
          <p:cNvSpPr/>
          <p:nvPr/>
        </p:nvSpPr>
        <p:spPr>
          <a:xfrm rot="19599551">
            <a:off x="6380068" y="1171894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0E7B9993-EEEC-026D-CC0F-C3A2F0CA1EA1}"/>
              </a:ext>
            </a:extLst>
          </p:cNvPr>
          <p:cNvSpPr/>
          <p:nvPr/>
        </p:nvSpPr>
        <p:spPr>
          <a:xfrm rot="1448578">
            <a:off x="6411991" y="2742778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2BC395-95C1-DAD6-859E-7F4F46197EA8}"/>
              </a:ext>
            </a:extLst>
          </p:cNvPr>
          <p:cNvSpPr txBox="1"/>
          <p:nvPr/>
        </p:nvSpPr>
        <p:spPr>
          <a:xfrm>
            <a:off x="5408666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64E82C-BE5A-C7B6-E797-949A14E60671}"/>
              </a:ext>
            </a:extLst>
          </p:cNvPr>
          <p:cNvSpPr txBox="1"/>
          <p:nvPr/>
        </p:nvSpPr>
        <p:spPr>
          <a:xfrm>
            <a:off x="5569213" y="486244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E325F4A2-70E9-7248-C026-B7C959EDC59B}"/>
              </a:ext>
            </a:extLst>
          </p:cNvPr>
          <p:cNvSpPr/>
          <p:nvPr/>
        </p:nvSpPr>
        <p:spPr>
          <a:xfrm rot="19599551">
            <a:off x="6404654" y="4311173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3F650353-574C-BA18-034B-BFFF41ED1083}"/>
              </a:ext>
            </a:extLst>
          </p:cNvPr>
          <p:cNvSpPr/>
          <p:nvPr/>
        </p:nvSpPr>
        <p:spPr>
          <a:xfrm rot="1448578">
            <a:off x="6411991" y="5648854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DD7CBF-3130-1960-9836-2793362E864B}"/>
              </a:ext>
            </a:extLst>
          </p:cNvPr>
          <p:cNvSpPr txBox="1"/>
          <p:nvPr/>
        </p:nvSpPr>
        <p:spPr>
          <a:xfrm>
            <a:off x="2965150" y="3369669"/>
            <a:ext cx="97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Choice 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B9A18E-D40D-6DFF-2309-D75DB43D8244}"/>
              </a:ext>
            </a:extLst>
          </p:cNvPr>
          <p:cNvSpPr txBox="1"/>
          <p:nvPr/>
        </p:nvSpPr>
        <p:spPr>
          <a:xfrm>
            <a:off x="7917640" y="681506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55DC75-4396-B20A-1A5E-393707DB341B}"/>
              </a:ext>
            </a:extLst>
          </p:cNvPr>
          <p:cNvSpPr txBox="1"/>
          <p:nvPr/>
        </p:nvSpPr>
        <p:spPr>
          <a:xfrm>
            <a:off x="7924799" y="2885759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D5EEAC-8B1F-669F-6286-08E124DD6DED}"/>
              </a:ext>
            </a:extLst>
          </p:cNvPr>
          <p:cNvSpPr txBox="1"/>
          <p:nvPr/>
        </p:nvSpPr>
        <p:spPr>
          <a:xfrm>
            <a:off x="7924799" y="5905644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3067A1E-7294-B37F-7C69-E35311B0789B}"/>
              </a:ext>
            </a:extLst>
          </p:cNvPr>
          <p:cNvSpPr txBox="1"/>
          <p:nvPr/>
        </p:nvSpPr>
        <p:spPr>
          <a:xfrm>
            <a:off x="7924799" y="387669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5F0CDA0-2206-F279-E911-C0573F5B9332}"/>
              </a:ext>
            </a:extLst>
          </p:cNvPr>
          <p:cNvSpPr txBox="1"/>
          <p:nvPr/>
        </p:nvSpPr>
        <p:spPr>
          <a:xfrm>
            <a:off x="4301305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2/3  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E7E9BC-6F0B-F9F6-9188-DBB5CBBD8C56}"/>
              </a:ext>
            </a:extLst>
          </p:cNvPr>
          <p:cNvSpPr txBox="1"/>
          <p:nvPr/>
        </p:nvSpPr>
        <p:spPr>
          <a:xfrm>
            <a:off x="4301305" y="3920773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1/3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91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3700-69F4-645B-5103-567A6DCD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350EBF-7D2F-989B-08C4-13F7A0B8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換門的勝率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5EACAF8-C4E7-30AF-4E0A-3DB02A5CD1DF}"/>
              </a:ext>
            </a:extLst>
          </p:cNvPr>
          <p:cNvSpPr txBox="1"/>
          <p:nvPr/>
        </p:nvSpPr>
        <p:spPr>
          <a:xfrm>
            <a:off x="4020699" y="2235050"/>
            <a:ext cx="60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B1AA0AD-3322-F497-0190-3799D708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43" y="2057977"/>
            <a:ext cx="9298637" cy="137102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011A5CB-371C-6508-AF22-E21A2D29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43" y="3992935"/>
            <a:ext cx="6356553" cy="161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4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686</Words>
  <Application>Microsoft Macintosh PowerPoint</Application>
  <PresentationFormat>寬螢幕</PresentationFormat>
  <Paragraphs>175</Paragraphs>
  <Slides>26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Songti SC</vt:lpstr>
      <vt:lpstr>Aptos</vt:lpstr>
      <vt:lpstr>Aptos Display</vt:lpstr>
      <vt:lpstr>Arial</vt:lpstr>
      <vt:lpstr>Calibri</vt:lpstr>
      <vt:lpstr>Cambria</vt:lpstr>
      <vt:lpstr>Snell Roundhand</vt:lpstr>
      <vt:lpstr>Office 佈景主題</vt:lpstr>
      <vt:lpstr>統計計算</vt:lpstr>
      <vt:lpstr>Outline</vt:lpstr>
      <vt:lpstr>PowerPoint 簡報</vt:lpstr>
      <vt:lpstr>第一次選到跑車的機率估計值分布</vt:lpstr>
      <vt:lpstr>第一次選到跑車的機率估計值分布</vt:lpstr>
      <vt:lpstr>第一次選到跑車的機率估計值分布</vt:lpstr>
      <vt:lpstr>第一次選到跑車的機率估計值分布</vt:lpstr>
      <vt:lpstr>第一次選到跑車的機率估計值分布</vt:lpstr>
      <vt:lpstr>PowerPoint 簡報</vt:lpstr>
      <vt:lpstr>PowerPoint 簡報</vt:lpstr>
      <vt:lpstr>PowerPoint 簡報</vt:lpstr>
      <vt:lpstr>PowerPoint 簡報</vt:lpstr>
      <vt:lpstr>換門選到跑車的機率估計值分布</vt:lpstr>
      <vt:lpstr>換門選到跑車的機率估計值分布</vt:lpstr>
      <vt:lpstr>換門選到跑車的機率估計值分布</vt:lpstr>
      <vt:lpstr>換門選到跑車的機率估計值分布</vt:lpstr>
      <vt:lpstr>PowerPoint 簡報</vt:lpstr>
      <vt:lpstr>換門選到跑車的機率bootstrap</vt:lpstr>
      <vt:lpstr>PowerPoint 簡報</vt:lpstr>
      <vt:lpstr>換門選到跑車的機率jacknife</vt:lpstr>
      <vt:lpstr>PowerPoint 簡報</vt:lpstr>
      <vt:lpstr>換門與不換門選到跑車的機率是否有差</vt:lpstr>
      <vt:lpstr>PowerPoint 簡報</vt:lpstr>
      <vt:lpstr>PowerPoint 簡報</vt:lpstr>
      <vt:lpstr>樹狀圖</vt:lpstr>
      <vt:lpstr>換門的勝率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采宣 林</cp:lastModifiedBy>
  <cp:revision>10</cp:revision>
  <dcterms:created xsi:type="dcterms:W3CDTF">2026-05-11T01:11:19Z</dcterms:created>
  <dcterms:modified xsi:type="dcterms:W3CDTF">2026-05-16T07:12:05Z</dcterms:modified>
</cp:coreProperties>
</file>