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8"/>
  </p:notesMasterIdLst>
  <p:sldIdLst>
    <p:sldId id="256" r:id="rId2"/>
    <p:sldId id="274" r:id="rId3"/>
    <p:sldId id="276" r:id="rId4"/>
    <p:sldId id="257" r:id="rId5"/>
    <p:sldId id="258" r:id="rId6"/>
    <p:sldId id="259" r:id="rId7"/>
    <p:sldId id="260" r:id="rId8"/>
    <p:sldId id="275" r:id="rId9"/>
    <p:sldId id="277" r:id="rId10"/>
    <p:sldId id="280" r:id="rId11"/>
    <p:sldId id="279" r:id="rId12"/>
    <p:sldId id="281" r:id="rId13"/>
    <p:sldId id="262" r:id="rId14"/>
    <p:sldId id="263" r:id="rId15"/>
    <p:sldId id="264" r:id="rId16"/>
    <p:sldId id="266" r:id="rId17"/>
    <p:sldId id="284" r:id="rId18"/>
    <p:sldId id="268" r:id="rId19"/>
    <p:sldId id="285" r:id="rId20"/>
    <p:sldId id="269" r:id="rId21"/>
    <p:sldId id="286" r:id="rId22"/>
    <p:sldId id="270" r:id="rId23"/>
    <p:sldId id="287" r:id="rId24"/>
    <p:sldId id="271" r:id="rId25"/>
    <p:sldId id="272" r:id="rId26"/>
    <p:sldId id="273" r:id="rId27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364"/>
    <p:restoredTop sz="73937"/>
  </p:normalViewPr>
  <p:slideViewPr>
    <p:cSldViewPr snapToGrid="0">
      <p:cViewPr>
        <p:scale>
          <a:sx n="81" d="100"/>
          <a:sy n="81" d="100"/>
        </p:scale>
        <p:origin x="448" y="1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635FF2-8915-A54A-8EAD-8F85AB9A51FE}" type="datetimeFigureOut">
              <a:rPr kumimoji="1" lang="zh-TW" altLang="en-US" smtClean="0"/>
              <a:t>2026/5/14</a:t>
            </a:fld>
            <a:endParaRPr kumimoji="1"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AE3F3F7-B0A0-C049-8967-D842C17DA35B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2510931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atin typeface="Cambria" panose="02040503050406030204" pitchFamily="18" charset="0"/>
                <a:ea typeface="Songti SC" panose="02010600040101010101" pitchFamily="2" charset="-122"/>
              </a:rPr>
              <a:t>Monte Carlo Estimation Methods:</a:t>
            </a:r>
          </a:p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R Built-in Bernoulli Simulation</a:t>
            </a:r>
          </a:p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Inverse Transform Method</a:t>
            </a:r>
          </a:p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Antithetic Variates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sz="1200" dirty="0">
              <a:latin typeface="Cambria" panose="02040503050406030204" pitchFamily="18" charset="0"/>
              <a:ea typeface="Songti SC" panose="02010600040101010101" pitchFamily="2" charset="-122"/>
            </a:endParaRPr>
          </a:p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E3F3F7-B0A0-C049-8967-D842C17DA35B}" type="slidenum">
              <a:rPr kumimoji="1" lang="zh-TW" altLang="en-US" smtClean="0"/>
              <a:t>2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097102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C0A8A2-10DE-BC43-F0CA-D643BF633E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F2B9CD90-B25E-E7CE-836E-8D29384610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5A0F40F-DBF3-AD3E-F0B9-FDD6AAC36F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44473C8-FF78-AA0F-3040-B760BF0CCA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E3F3F7-B0A0-C049-8967-D842C17DA35B}" type="slidenum">
              <a:rPr kumimoji="1" lang="zh-TW" altLang="en-US" smtClean="0"/>
              <a:t>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2539042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C71A12-5EE9-09C0-DB88-D70BF7CE55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CCEAD2B6-C715-5BCE-097C-F33CB32F82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6784CA6-A384-03A6-2C78-3AFE4A2F69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Monte Carlo Estimation Methods</a:t>
            </a:r>
          </a:p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Bootstrap</a:t>
            </a:r>
          </a:p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zh-TW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Jackknife Method</a:t>
            </a:r>
            <a:endParaRPr lang="en-US" altLang="zh-TW" sz="1600" dirty="0">
              <a:solidFill>
                <a:schemeClr val="tx1">
                  <a:lumMod val="75000"/>
                  <a:lumOff val="25000"/>
                </a:schemeClr>
              </a:solidFill>
              <a:latin typeface="Cambria" panose="02040503050406030204" pitchFamily="18" charset="0"/>
              <a:ea typeface="Songti SC" panose="02010600040101010101" pitchFamily="2" charset="-122"/>
            </a:endParaRPr>
          </a:p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Permutation Test</a:t>
            </a:r>
          </a:p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Markov Chain Monte Carlo (MCMC)-Metropolis Hastings Algorithm</a:t>
            </a:r>
          </a:p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BC72B0C-2B6F-D2A9-3C71-0449193ACB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E3F3F7-B0A0-C049-8967-D842C17DA35B}" type="slidenum">
              <a:rPr kumimoji="1" lang="zh-TW" altLang="en-US" smtClean="0"/>
              <a:t>17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13212874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5B6169-096D-D134-1205-31AC0A929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81CD3B14-87ED-315E-D66B-0BE3BAF34F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7911C3A-4783-4228-A056-8669671BA1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Monte Carlo Estimation Methods</a:t>
            </a:r>
          </a:p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Bootstrap</a:t>
            </a:r>
          </a:p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zh-TW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Jackknife Method</a:t>
            </a:r>
            <a:endParaRPr lang="en-US" altLang="zh-TW" sz="1600" dirty="0">
              <a:solidFill>
                <a:schemeClr val="tx1">
                  <a:lumMod val="75000"/>
                  <a:lumOff val="25000"/>
                </a:schemeClr>
              </a:solidFill>
              <a:latin typeface="Cambria" panose="02040503050406030204" pitchFamily="18" charset="0"/>
              <a:ea typeface="Songti SC" panose="02010600040101010101" pitchFamily="2" charset="-122"/>
            </a:endParaRPr>
          </a:p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Permutation Test</a:t>
            </a:r>
          </a:p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Markov Chain Monte Carlo (MCMC)-Metropolis Hastings Algorithm</a:t>
            </a:r>
          </a:p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AF3BCDF-5BB1-42C4-FFAA-1F8AFF4E27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E3F3F7-B0A0-C049-8967-D842C17DA35B}" type="slidenum">
              <a:rPr kumimoji="1" lang="zh-TW" altLang="en-US" smtClean="0"/>
              <a:t>19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1815853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596DB8-5640-CEE9-72C8-905A3D68D6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5C1780D8-6E43-BBD1-9746-792B36587A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F7FEBDDF-AC76-39CD-C378-5E6DC8E283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Monte Carlo Estimation Methods</a:t>
            </a:r>
          </a:p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Bootstrap</a:t>
            </a:r>
          </a:p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zh-TW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Jackknife Method</a:t>
            </a:r>
            <a:endParaRPr lang="en-US" altLang="zh-TW" sz="1600" dirty="0">
              <a:solidFill>
                <a:schemeClr val="tx1">
                  <a:lumMod val="75000"/>
                  <a:lumOff val="25000"/>
                </a:schemeClr>
              </a:solidFill>
              <a:latin typeface="Cambria" panose="02040503050406030204" pitchFamily="18" charset="0"/>
              <a:ea typeface="Songti SC" panose="02010600040101010101" pitchFamily="2" charset="-122"/>
            </a:endParaRPr>
          </a:p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Permutation Test</a:t>
            </a:r>
          </a:p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Markov Chain Monte Carlo (MCMC)-Metropolis Hastings Algorithm</a:t>
            </a:r>
          </a:p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CB21206-AF45-29CE-9C4D-C962D4B838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E3F3F7-B0A0-C049-8967-D842C17DA35B}" type="slidenum">
              <a:rPr kumimoji="1" lang="zh-TW" altLang="en-US" smtClean="0"/>
              <a:t>21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48638368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zh-TW" dirty="0"/>
              <a:t>Permutation </a:t>
            </a:r>
            <a:r>
              <a:rPr kumimoji="1" lang="zh-TW" altLang="en-US" dirty="0"/>
              <a:t>結果：換門勝率</a:t>
            </a:r>
            <a:r>
              <a:rPr kumimoji="1" lang="en-US" altLang="zh-TW" dirty="0"/>
              <a:t>66.7%</a:t>
            </a:r>
            <a:r>
              <a:rPr kumimoji="1" lang="zh-TW" altLang="en-US" dirty="0"/>
              <a:t>、不換的勝率是</a:t>
            </a:r>
            <a:r>
              <a:rPr kumimoji="1" lang="en-US" altLang="zh-TW" dirty="0"/>
              <a:t>33.4%</a:t>
            </a:r>
            <a:r>
              <a:rPr kumimoji="1" lang="zh-TW" altLang="en-US" dirty="0"/>
              <a:t> </a:t>
            </a:r>
            <a:endParaRPr kumimoji="1" lang="en-US" altLang="zh-TW" dirty="0"/>
          </a:p>
          <a:p>
            <a:r>
              <a:rPr kumimoji="1" lang="zh-TW" altLang="en-US" dirty="0"/>
              <a:t>接近理論</a:t>
            </a:r>
            <a:r>
              <a:rPr kumimoji="1" lang="en-US" altLang="zh-TW" dirty="0"/>
              <a:t>:</a:t>
            </a:r>
            <a:r>
              <a:rPr kumimoji="1" lang="zh-TW" altLang="en-US" dirty="0"/>
              <a:t>換門勝率</a:t>
            </a:r>
            <a:r>
              <a:rPr kumimoji="1" lang="en-US" altLang="zh-TW" dirty="0"/>
              <a:t>2/3. </a:t>
            </a:r>
            <a:r>
              <a:rPr kumimoji="1" lang="zh-TW" altLang="en-US" dirty="0"/>
              <a:t>不換的勝率</a:t>
            </a:r>
            <a:r>
              <a:rPr kumimoji="1" lang="en-US" altLang="zh-TW" dirty="0"/>
              <a:t>1/3</a:t>
            </a:r>
          </a:p>
          <a:p>
            <a:endParaRPr kumimoji="1"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zh-TW" dirty="0"/>
              <a:t>H0:</a:t>
            </a:r>
            <a:r>
              <a:rPr lang="zh-TW" altLang="zh-TW" dirty="0"/>
              <a:t>換門與不換門</a:t>
            </a:r>
            <a:r>
              <a:rPr lang="zh-TW" altLang="en-US" dirty="0"/>
              <a:t>勝率</a:t>
            </a:r>
            <a:r>
              <a:rPr lang="zh-TW" altLang="zh-TW" dirty="0"/>
              <a:t>沒有差別</a:t>
            </a:r>
            <a:r>
              <a:rPr lang="zh-TW" altLang="en-US" dirty="0"/>
              <a:t> （兩組平均數差異</a:t>
            </a:r>
            <a:r>
              <a:rPr lang="en-US" altLang="zh-TW" dirty="0"/>
              <a:t>=0</a:t>
            </a:r>
            <a:r>
              <a:rPr lang="zh-TW" altLang="en-US" dirty="0"/>
              <a:t>）</a:t>
            </a:r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dirty="0"/>
              <a:t>p=0:10000</a:t>
            </a:r>
            <a:r>
              <a:rPr lang="zh-TW" altLang="en-US" dirty="0"/>
              <a:t>次</a:t>
            </a:r>
            <a:r>
              <a:rPr lang="en-US" altLang="zh-TW" dirty="0"/>
              <a:t>permutation </a:t>
            </a:r>
            <a:r>
              <a:rPr lang="zh-TW" altLang="en-US" dirty="0"/>
              <a:t>沒有一次出現</a:t>
            </a:r>
            <a:r>
              <a:rPr lang="en-US" altLang="zh-TW" dirty="0"/>
              <a:t>mean difference=0.333038</a:t>
            </a:r>
            <a:endParaRPr lang="zh-TW" altLang="zh-TW" dirty="0"/>
          </a:p>
          <a:p>
            <a:endParaRPr kumimoji="1" lang="en-US" altLang="zh-TW" dirty="0"/>
          </a:p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E3F3F7-B0A0-C049-8967-D842C17DA35B}" type="slidenum">
              <a:rPr kumimoji="1" lang="zh-TW" altLang="en-US" smtClean="0"/>
              <a:t>22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66931546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512325-867B-1B1F-0A27-01C6A51BCF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95527B0-F58B-649C-04C4-0A7767E24F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27FE10B-E615-6EA5-AC7B-4990F30082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Monte Carlo Estimation Methods</a:t>
            </a:r>
          </a:p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Bootstrap</a:t>
            </a:r>
          </a:p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zh-TW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Jackknife Method</a:t>
            </a:r>
            <a:endParaRPr lang="en-US" altLang="zh-TW" sz="1600" dirty="0">
              <a:solidFill>
                <a:schemeClr val="tx1">
                  <a:lumMod val="75000"/>
                  <a:lumOff val="25000"/>
                </a:schemeClr>
              </a:solidFill>
              <a:latin typeface="Cambria" panose="02040503050406030204" pitchFamily="18" charset="0"/>
              <a:ea typeface="Songti SC" panose="02010600040101010101" pitchFamily="2" charset="-122"/>
            </a:endParaRPr>
          </a:p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Permutation Test</a:t>
            </a:r>
          </a:p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Markov Chain Monte Carlo (MCMC)-Metropolis Hastings Algorithm</a:t>
            </a:r>
          </a:p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1824E00-1D34-F423-7A8F-5C67BF5D08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E3F3F7-B0A0-C049-8967-D842C17DA35B}" type="slidenum">
              <a:rPr kumimoji="1" lang="zh-TW" altLang="en-US" smtClean="0"/>
              <a:t>23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3572473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3430F3D-DF9D-76BF-EC05-10D44C2F01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9DFEB173-6E1D-C890-0DCE-9A1103CD961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5D993D7-F1DC-D400-AB71-D89E481094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EC7CD-0132-46A9-805B-E798C8C14E80}" type="datetimeFigureOut">
              <a:rPr lang="zh-TW" altLang="en-US" smtClean="0"/>
              <a:t>2026/5/14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D52B38F-021C-E38D-EB5E-92E2F77B4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3232A271-6314-1050-D750-84F06AAA4A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33533-3AC9-4FAA-931E-4BA938026E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835035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3AF42DD-C958-00C5-EB25-3E501308F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DD525C6-E9C6-F7AD-3859-127C75CD11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529C73F-931C-118E-B211-797BF8A8CC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EC7CD-0132-46A9-805B-E798C8C14E80}" type="datetimeFigureOut">
              <a:rPr lang="zh-TW" altLang="en-US" smtClean="0"/>
              <a:t>2026/5/14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4813B2C-4831-6DD5-2C31-317910C35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38345FC-3060-B8B8-0FAE-489F54D02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33533-3AC9-4FAA-931E-4BA938026E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126466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56EF40F-703F-8977-48A8-434D4180F2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A2853EBB-F0F3-8E8A-8B66-4649EA57D0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A534432-FABD-5526-39AE-02B23C88B6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EC7CD-0132-46A9-805B-E798C8C14E80}" type="datetimeFigureOut">
              <a:rPr lang="zh-TW" altLang="en-US" smtClean="0"/>
              <a:t>2026/5/14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49AA32B-8C2A-F3C5-01C8-21C5108A0C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20B3D22-E7A8-F143-51F9-524F265599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33533-3AC9-4FAA-931E-4BA938026E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150607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14646B1-3984-4614-DEFF-DCE99DA23C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01C0EF0-7AC4-1D9F-995D-187AAEEF2E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669F43AD-8BD9-161D-89E0-8C99BC60F5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47FCADE2-4DF2-3F32-D3D9-A8497E73C0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EC7CD-0132-46A9-805B-E798C8C14E80}" type="datetimeFigureOut">
              <a:rPr lang="zh-TW" altLang="en-US" smtClean="0"/>
              <a:t>2026/5/14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856D3A7-C80E-6C3A-4FF3-E106DD9D9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BC5556D8-E618-E19D-BC47-ADF78C0831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33533-3AC9-4FAA-931E-4BA938026E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580242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76F7D71-1EBB-6F63-9C22-6F8A0715EC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19014265-1DB4-D792-49E9-5B38513D8E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CBCC611E-F33F-3808-A899-185643376C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9FA0BC31-2D4E-1583-2FC7-120C3008D6A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01974D57-191D-9E3D-5E8E-203266F8838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EAF8BEBE-89A5-1D27-75BC-69ED91BAA4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EC7CD-0132-46A9-805B-E798C8C14E80}" type="datetimeFigureOut">
              <a:rPr lang="zh-TW" altLang="en-US" smtClean="0"/>
              <a:t>2026/5/14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8D6F51FC-59DA-5E80-11C1-3A942E98FA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776D16BE-E968-304D-485B-451941446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33533-3AC9-4FAA-931E-4BA938026E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704613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5BF4F91-74A7-C2EA-EC95-5FD7E317AD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6DE491A4-EE4E-2913-7BA9-37A76C16B8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EC7CD-0132-46A9-805B-E798C8C14E80}" type="datetimeFigureOut">
              <a:rPr lang="zh-TW" altLang="en-US" smtClean="0"/>
              <a:t>2026/5/14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C79FCE6B-5E86-48EE-5ECE-ACFA2868A3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3684561-2865-8229-7552-341B9503DC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33533-3AC9-4FAA-931E-4BA938026E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404417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039CCB7E-8E33-8C8E-E7D3-412CC6B13A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EC7CD-0132-46A9-805B-E798C8C14E80}" type="datetimeFigureOut">
              <a:rPr lang="zh-TW" altLang="en-US" smtClean="0"/>
              <a:t>2026/5/14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A7576F09-F551-F09C-7FD7-ED6254F04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408F2F7-FCE6-A06E-2776-42A0F4C9DA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33533-3AC9-4FAA-931E-4BA938026E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135786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8789BD-A9B2-AD91-BF1B-4CF60E4AB4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0117814-6DE8-AA40-70CC-8F2121502C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A3527901-D522-50C9-B58F-2F940009D5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D8B906B-85F6-61DF-4307-6B898E5239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EC7CD-0132-46A9-805B-E798C8C14E80}" type="datetimeFigureOut">
              <a:rPr lang="zh-TW" altLang="en-US" smtClean="0"/>
              <a:t>2026/5/14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24A8BD70-F032-90A4-E2DA-ACEEC89024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F9B860BD-B861-8B4D-4259-B1704CA4B6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33533-3AC9-4FAA-931E-4BA938026E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408721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BF0AAE8-B49F-4DA6-BFA6-8A815F28DA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F41B5567-DC86-F57E-C0B8-81EC22A7930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E0421A4A-85D7-4EAA-2471-029E38F30A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1048EB6F-0886-2453-E48F-A0A56EC69E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EC7CD-0132-46A9-805B-E798C8C14E80}" type="datetimeFigureOut">
              <a:rPr lang="zh-TW" altLang="en-US" smtClean="0"/>
              <a:t>2026/5/14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50959D69-ECE1-32AE-FC1A-72D811E932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3DC5E8B-3228-3161-4D2C-5F70DEE03D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33533-3AC9-4FAA-931E-4BA938026E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39105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F3A4FEA-AFAF-331F-8D24-5C854CA5C0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4E111A3D-173F-63D0-EE04-24F2EC024E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0B21BF0-843A-9616-CC74-7EB731CCE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EC7CD-0132-46A9-805B-E798C8C14E80}" type="datetimeFigureOut">
              <a:rPr lang="zh-TW" altLang="en-US" smtClean="0"/>
              <a:t>2026/5/14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60C8B67-0562-0731-092A-F0BB17CD8C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011590A-7F57-944A-D56D-38CA3DD84C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33533-3AC9-4FAA-931E-4BA938026E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579223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09C83E4D-5440-155A-AD7C-265CCC03364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9B02CB1B-7700-C061-E331-117F9C973A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EC0B5B1-2CE5-1810-550B-2B4DCDC86A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EC7CD-0132-46A9-805B-E798C8C14E80}" type="datetimeFigureOut">
              <a:rPr lang="zh-TW" altLang="en-US" smtClean="0"/>
              <a:t>2026/5/14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2812DE5-CAD6-0789-F7C3-C7B615E91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0AD5E98-E988-4B8D-94AC-F4C604DA2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33533-3AC9-4FAA-931E-4BA938026E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88501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EED9AF3F-F7C3-3516-5675-AC306D54B6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E21C37C3-5826-4D2A-D961-61CC0EC3AF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9A94939-DC2B-ADF4-F60F-64C73DFA53A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AEC7CD-0132-46A9-805B-E798C8C14E80}" type="datetimeFigureOut">
              <a:rPr lang="zh-TW" altLang="en-US" smtClean="0"/>
              <a:t>2026/5/14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570E65D-165F-E7E7-4C93-9351DC998B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2653B26-3CFD-DA6B-F400-112A1F3688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3033533-3AC9-4FAA-931E-4BA938026E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23710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201ADE5-D822-535E-FB85-912A66398F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495227"/>
            <a:ext cx="9144000" cy="1014736"/>
          </a:xfrm>
        </p:spPr>
        <p:txBody>
          <a:bodyPr/>
          <a:lstStyle/>
          <a:p>
            <a:r>
              <a:rPr lang="zh-TW" altLang="en-US" dirty="0">
                <a:latin typeface="Songti SC" panose="02010600040101010101" pitchFamily="2" charset="-122"/>
                <a:ea typeface="Songti SC" panose="02010600040101010101" pitchFamily="2" charset="-122"/>
              </a:rPr>
              <a:t>統計計算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11426C8B-1F33-B9EC-B751-14D622A5F0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891569"/>
            <a:ext cx="9144000" cy="396525"/>
          </a:xfrm>
        </p:spPr>
        <p:txBody>
          <a:bodyPr>
            <a:normAutofit fontScale="92500" lnSpcReduction="10000"/>
          </a:bodyPr>
          <a:lstStyle/>
          <a:p>
            <a:r>
              <a:rPr lang="zh-TW" altLang="en-US" dirty="0">
                <a:latin typeface="Songti SC" panose="02010600040101010101" pitchFamily="2" charset="-122"/>
                <a:ea typeface="Songti SC" panose="02010600040101010101" pitchFamily="2" charset="-122"/>
              </a:rPr>
              <a:t>賴俊延 林采宣</a:t>
            </a:r>
          </a:p>
        </p:txBody>
      </p:sp>
    </p:spTree>
    <p:extLst>
      <p:ext uri="{BB962C8B-B14F-4D97-AF65-F5344CB8AC3E}">
        <p14:creationId xmlns:p14="http://schemas.microsoft.com/office/powerpoint/2010/main" val="42863301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1D0C63-214C-F0A1-F2EF-88E58B9B3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97B4D66-1C44-06D0-14E8-8C2AB300F8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54976"/>
            <a:ext cx="9144000" cy="822378"/>
          </a:xfrm>
        </p:spPr>
        <p:txBody>
          <a:bodyPr>
            <a:normAutofit/>
          </a:bodyPr>
          <a:lstStyle/>
          <a:p>
            <a:r>
              <a:rPr lang="en-US" altLang="zh-TW" sz="4400" dirty="0">
                <a:latin typeface="Cambria" panose="02040503050406030204" pitchFamily="18" charset="0"/>
              </a:rPr>
              <a:t>Outline</a:t>
            </a:r>
            <a:endParaRPr lang="zh-TW" altLang="en-US" sz="4400" dirty="0">
              <a:latin typeface="Cambria" panose="02040503050406030204" pitchFamily="18" charset="0"/>
            </a:endParaRPr>
          </a:p>
        </p:txBody>
      </p:sp>
      <p:grpSp>
        <p:nvGrpSpPr>
          <p:cNvPr id="15" name="群組 14">
            <a:extLst>
              <a:ext uri="{FF2B5EF4-FFF2-40B4-BE49-F238E27FC236}">
                <a16:creationId xmlns:a16="http://schemas.microsoft.com/office/drawing/2014/main" id="{886E8AEF-3B5F-FF4E-F7F4-2B2788D0E05F}"/>
              </a:ext>
            </a:extLst>
          </p:cNvPr>
          <p:cNvGrpSpPr/>
          <p:nvPr/>
        </p:nvGrpSpPr>
        <p:grpSpPr>
          <a:xfrm>
            <a:off x="1695163" y="2007476"/>
            <a:ext cx="4400838" cy="488847"/>
            <a:chOff x="1153295" y="1606171"/>
            <a:chExt cx="4400838" cy="488847"/>
          </a:xfrm>
        </p:grpSpPr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4F34242F-7A88-F926-37BD-BCB91600C3D8}"/>
                </a:ext>
              </a:extLst>
            </p:cNvPr>
            <p:cNvSpPr/>
            <p:nvPr/>
          </p:nvSpPr>
          <p:spPr>
            <a:xfrm>
              <a:off x="1153295" y="1606171"/>
              <a:ext cx="4400838" cy="48884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A935644B-FC8F-41EC-4D7C-CFD9EEFF14A8}"/>
                </a:ext>
              </a:extLst>
            </p:cNvPr>
            <p:cNvSpPr/>
            <p:nvPr/>
          </p:nvSpPr>
          <p:spPr>
            <a:xfrm>
              <a:off x="1153296" y="1606171"/>
              <a:ext cx="467159" cy="488847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sp>
          <p:nvSpPr>
            <p:cNvPr id="8" name="標題 1">
              <a:extLst>
                <a:ext uri="{FF2B5EF4-FFF2-40B4-BE49-F238E27FC236}">
                  <a16:creationId xmlns:a16="http://schemas.microsoft.com/office/drawing/2014/main" id="{A07F6D77-1CBC-4242-BEA7-4623FB27BDC8}"/>
                </a:ext>
              </a:extLst>
            </p:cNvPr>
            <p:cNvSpPr txBox="1">
              <a:spLocks/>
            </p:cNvSpPr>
            <p:nvPr/>
          </p:nvSpPr>
          <p:spPr>
            <a:xfrm>
              <a:off x="1294909" y="1712549"/>
              <a:ext cx="168165" cy="312056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Autofit/>
            </a:bodyPr>
            <a:lstStyle>
              <a:lvl1pPr algn="ctr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US" altLang="zh-TW" sz="1800" dirty="0">
                  <a:solidFill>
                    <a:schemeClr val="bg1">
                      <a:lumMod val="95000"/>
                    </a:schemeClr>
                  </a:solidFill>
                  <a:latin typeface="Snell Roundhand" panose="02000603080000090004" pitchFamily="2" charset="0"/>
                </a:rPr>
                <a:t>1</a:t>
              </a:r>
              <a:endParaRPr lang="zh-TW" altLang="en-US" sz="1800" dirty="0">
                <a:solidFill>
                  <a:schemeClr val="bg1">
                    <a:lumMod val="95000"/>
                  </a:schemeClr>
                </a:solidFill>
                <a:latin typeface="Snell Roundhand" panose="02000603080000090004" pitchFamily="2" charset="0"/>
              </a:endParaRPr>
            </a:p>
          </p:txBody>
        </p:sp>
        <p:sp>
          <p:nvSpPr>
            <p:cNvPr id="9" name="副標題 2">
              <a:extLst>
                <a:ext uri="{FF2B5EF4-FFF2-40B4-BE49-F238E27FC236}">
                  <a16:creationId xmlns:a16="http://schemas.microsoft.com/office/drawing/2014/main" id="{93EFCD4D-E08E-4204-FF71-1BD09C05CA26}"/>
                </a:ext>
              </a:extLst>
            </p:cNvPr>
            <p:cNvSpPr txBox="1">
              <a:spLocks/>
            </p:cNvSpPr>
            <p:nvPr/>
          </p:nvSpPr>
          <p:spPr>
            <a:xfrm>
              <a:off x="1736547" y="1642137"/>
              <a:ext cx="3701493" cy="452881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>
                <a:lnSpc>
                  <a:spcPct val="100000"/>
                </a:lnSpc>
              </a:pPr>
              <a:r>
                <a:rPr lang="zh-TW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Introduction and Problem Setup</a:t>
              </a:r>
              <a:endParaRPr lang="en-US" altLang="zh-TW" sz="2000" dirty="0">
                <a:latin typeface="Cambria" panose="02040503050406030204" pitchFamily="18" charset="0"/>
                <a:ea typeface="Songti SC" panose="02010600040101010101" pitchFamily="2" charset="-122"/>
              </a:endParaRPr>
            </a:p>
          </p:txBody>
        </p:sp>
      </p:grpSp>
      <p:sp>
        <p:nvSpPr>
          <p:cNvPr id="10" name="副標題 2">
            <a:extLst>
              <a:ext uri="{FF2B5EF4-FFF2-40B4-BE49-F238E27FC236}">
                <a16:creationId xmlns:a16="http://schemas.microsoft.com/office/drawing/2014/main" id="{AAE051B7-B045-30D2-5F9D-EE27141D9BF5}"/>
              </a:ext>
            </a:extLst>
          </p:cNvPr>
          <p:cNvSpPr txBox="1">
            <a:spLocks/>
          </p:cNvSpPr>
          <p:nvPr/>
        </p:nvSpPr>
        <p:spPr>
          <a:xfrm>
            <a:off x="1814930" y="2610071"/>
            <a:ext cx="4628461" cy="28039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00000"/>
              </a:lnSpc>
            </a:pPr>
            <a:r>
              <a:rPr lang="zh-TW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Monty Hall Problem</a:t>
            </a:r>
            <a:r>
              <a:rPr lang="zh-TW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、</a:t>
            </a:r>
            <a:r>
              <a:rPr lang="zh-TW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Simulation Framework</a:t>
            </a:r>
          </a:p>
          <a:p>
            <a:pPr>
              <a:lnSpc>
                <a:spcPct val="100000"/>
              </a:lnSpc>
            </a:pPr>
            <a:endParaRPr lang="zh-TW" altLang="zh-TW" sz="1600" dirty="0">
              <a:solidFill>
                <a:schemeClr val="tx1">
                  <a:lumMod val="75000"/>
                  <a:lumOff val="25000"/>
                </a:schemeClr>
              </a:solidFill>
              <a:latin typeface="Cambria" panose="02040503050406030204" pitchFamily="18" charset="0"/>
              <a:ea typeface="Songti SC" panose="02010600040101010101" pitchFamily="2" charset="-122"/>
            </a:endParaRPr>
          </a:p>
        </p:txBody>
      </p:sp>
      <p:grpSp>
        <p:nvGrpSpPr>
          <p:cNvPr id="16" name="群組 15">
            <a:extLst>
              <a:ext uri="{FF2B5EF4-FFF2-40B4-BE49-F238E27FC236}">
                <a16:creationId xmlns:a16="http://schemas.microsoft.com/office/drawing/2014/main" id="{E0FE4B24-E59E-73D0-CEAF-EBB4CD5DBBB3}"/>
              </a:ext>
            </a:extLst>
          </p:cNvPr>
          <p:cNvGrpSpPr/>
          <p:nvPr/>
        </p:nvGrpSpPr>
        <p:grpSpPr>
          <a:xfrm>
            <a:off x="1695163" y="3071546"/>
            <a:ext cx="4748228" cy="488847"/>
            <a:chOff x="1153295" y="1606171"/>
            <a:chExt cx="4748228" cy="488847"/>
          </a:xfrm>
        </p:grpSpPr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D7D8EC00-5776-EBCA-7AEA-DEFD6D4257EF}"/>
                </a:ext>
              </a:extLst>
            </p:cNvPr>
            <p:cNvSpPr/>
            <p:nvPr/>
          </p:nvSpPr>
          <p:spPr>
            <a:xfrm>
              <a:off x="1153295" y="1606171"/>
              <a:ext cx="4400838" cy="48884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8" name="矩形 17">
              <a:extLst>
                <a:ext uri="{FF2B5EF4-FFF2-40B4-BE49-F238E27FC236}">
                  <a16:creationId xmlns:a16="http://schemas.microsoft.com/office/drawing/2014/main" id="{7860CF99-C0C0-D50D-46C9-0E61EAAB23A1}"/>
                </a:ext>
              </a:extLst>
            </p:cNvPr>
            <p:cNvSpPr/>
            <p:nvPr/>
          </p:nvSpPr>
          <p:spPr>
            <a:xfrm>
              <a:off x="1153296" y="1606171"/>
              <a:ext cx="467159" cy="488847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sp>
          <p:nvSpPr>
            <p:cNvPr id="19" name="標題 1">
              <a:extLst>
                <a:ext uri="{FF2B5EF4-FFF2-40B4-BE49-F238E27FC236}">
                  <a16:creationId xmlns:a16="http://schemas.microsoft.com/office/drawing/2014/main" id="{764627B3-9B72-F6CE-F016-8BA1C0D6B49A}"/>
                </a:ext>
              </a:extLst>
            </p:cNvPr>
            <p:cNvSpPr txBox="1">
              <a:spLocks/>
            </p:cNvSpPr>
            <p:nvPr/>
          </p:nvSpPr>
          <p:spPr>
            <a:xfrm>
              <a:off x="1294909" y="1712549"/>
              <a:ext cx="168165" cy="312056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Autofit/>
            </a:bodyPr>
            <a:lstStyle>
              <a:lvl1pPr algn="ctr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US" altLang="zh-TW" sz="1800" dirty="0">
                  <a:solidFill>
                    <a:schemeClr val="bg1">
                      <a:lumMod val="95000"/>
                    </a:schemeClr>
                  </a:solidFill>
                  <a:latin typeface="Snell Roundhand" panose="02000603080000090004" pitchFamily="2" charset="0"/>
                </a:rPr>
                <a:t>2</a:t>
              </a:r>
              <a:endParaRPr lang="zh-TW" altLang="en-US" sz="1800" dirty="0">
                <a:solidFill>
                  <a:schemeClr val="bg1">
                    <a:lumMod val="95000"/>
                  </a:schemeClr>
                </a:solidFill>
                <a:latin typeface="Snell Roundhand" panose="02000603080000090004" pitchFamily="2" charset="0"/>
              </a:endParaRPr>
            </a:p>
          </p:txBody>
        </p:sp>
        <p:sp>
          <p:nvSpPr>
            <p:cNvPr id="20" name="副標題 2">
              <a:extLst>
                <a:ext uri="{FF2B5EF4-FFF2-40B4-BE49-F238E27FC236}">
                  <a16:creationId xmlns:a16="http://schemas.microsoft.com/office/drawing/2014/main" id="{8255B0D1-17E1-3C3C-D6F6-75D25EF1730A}"/>
                </a:ext>
              </a:extLst>
            </p:cNvPr>
            <p:cNvSpPr txBox="1">
              <a:spLocks/>
            </p:cNvSpPr>
            <p:nvPr/>
          </p:nvSpPr>
          <p:spPr>
            <a:xfrm>
              <a:off x="1736547" y="1642137"/>
              <a:ext cx="4164976" cy="452881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>
                <a:lnSpc>
                  <a:spcPct val="100000"/>
                </a:lnSpc>
              </a:pPr>
              <a:r>
                <a:rPr lang="zh-TW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Statistical Inference</a:t>
              </a:r>
              <a:endParaRPr lang="en-US" altLang="zh-TW" sz="2000" dirty="0">
                <a:latin typeface="Cambria" panose="02040503050406030204" pitchFamily="18" charset="0"/>
                <a:ea typeface="Songti SC" panose="02010600040101010101" pitchFamily="2" charset="-122"/>
              </a:endParaRPr>
            </a:p>
          </p:txBody>
        </p:sp>
      </p:grpSp>
      <p:sp>
        <p:nvSpPr>
          <p:cNvPr id="21" name="副標題 2">
            <a:extLst>
              <a:ext uri="{FF2B5EF4-FFF2-40B4-BE49-F238E27FC236}">
                <a16:creationId xmlns:a16="http://schemas.microsoft.com/office/drawing/2014/main" id="{A8B468E4-4351-B61C-B8D6-62BF0AB8B840}"/>
              </a:ext>
            </a:extLst>
          </p:cNvPr>
          <p:cNvSpPr txBox="1">
            <a:spLocks/>
          </p:cNvSpPr>
          <p:nvPr/>
        </p:nvSpPr>
        <p:spPr>
          <a:xfrm>
            <a:off x="1814929" y="3596358"/>
            <a:ext cx="8853071" cy="167573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Monte Carlo Estimation Methods</a:t>
            </a:r>
          </a:p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Bootstrap</a:t>
            </a:r>
          </a:p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zh-TW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Jackknife Method</a:t>
            </a:r>
            <a:endParaRPr lang="en-US" altLang="zh-TW" sz="1600" dirty="0">
              <a:solidFill>
                <a:schemeClr val="tx1">
                  <a:lumMod val="75000"/>
                  <a:lumOff val="25000"/>
                </a:schemeClr>
              </a:solidFill>
              <a:latin typeface="Cambria" panose="02040503050406030204" pitchFamily="18" charset="0"/>
              <a:ea typeface="Songti SC" panose="02010600040101010101" pitchFamily="2" charset="-122"/>
            </a:endParaRPr>
          </a:p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Permutation Test</a:t>
            </a:r>
          </a:p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Markov Chain Monte Carlo (MCMC)-Metropolis Hastings Algorithm</a:t>
            </a:r>
          </a:p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en-US" altLang="zh-TW" sz="1600" dirty="0">
              <a:solidFill>
                <a:schemeClr val="tx1">
                  <a:lumMod val="75000"/>
                  <a:lumOff val="25000"/>
                </a:schemeClr>
              </a:solidFill>
              <a:latin typeface="Cambria" panose="02040503050406030204" pitchFamily="18" charset="0"/>
              <a:ea typeface="Songti SC" panose="02010600040101010101" pitchFamily="2" charset="-122"/>
            </a:endParaRPr>
          </a:p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en-US" altLang="zh-TW" sz="1600" dirty="0">
              <a:solidFill>
                <a:schemeClr val="tx1">
                  <a:lumMod val="75000"/>
                  <a:lumOff val="25000"/>
                </a:schemeClr>
              </a:solidFill>
              <a:latin typeface="Cambria" panose="02040503050406030204" pitchFamily="18" charset="0"/>
              <a:ea typeface="Songti SC" panose="02010600040101010101" pitchFamily="2" charset="-122"/>
            </a:endParaRPr>
          </a:p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en" altLang="zh-TW" sz="1600" dirty="0">
              <a:solidFill>
                <a:schemeClr val="tx1">
                  <a:lumMod val="75000"/>
                  <a:lumOff val="25000"/>
                </a:schemeClr>
              </a:solidFill>
              <a:latin typeface="Cambria" panose="02040503050406030204" pitchFamily="18" charset="0"/>
              <a:ea typeface="Songti SC" panose="02010600040101010101" pitchFamily="2" charset="-122"/>
            </a:endParaRPr>
          </a:p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en" altLang="zh-TW" sz="1600" dirty="0">
              <a:solidFill>
                <a:schemeClr val="tx1">
                  <a:lumMod val="75000"/>
                  <a:lumOff val="25000"/>
                </a:schemeClr>
              </a:solidFill>
              <a:latin typeface="Cambria" panose="02040503050406030204" pitchFamily="18" charset="0"/>
              <a:ea typeface="Songti SC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3021380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02C62C-29F0-BC46-1F46-5999EA4720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群組 14">
            <a:extLst>
              <a:ext uri="{FF2B5EF4-FFF2-40B4-BE49-F238E27FC236}">
                <a16:creationId xmlns:a16="http://schemas.microsoft.com/office/drawing/2014/main" id="{D9A8DF34-799E-B88A-19F6-5782A27A82EE}"/>
              </a:ext>
            </a:extLst>
          </p:cNvPr>
          <p:cNvGrpSpPr/>
          <p:nvPr/>
        </p:nvGrpSpPr>
        <p:grpSpPr>
          <a:xfrm>
            <a:off x="821690" y="647642"/>
            <a:ext cx="4400838" cy="488847"/>
            <a:chOff x="1153295" y="1606171"/>
            <a:chExt cx="4400838" cy="488847"/>
          </a:xfrm>
        </p:grpSpPr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BF95018E-FA53-8708-E75E-492B23BAD872}"/>
                </a:ext>
              </a:extLst>
            </p:cNvPr>
            <p:cNvSpPr/>
            <p:nvPr/>
          </p:nvSpPr>
          <p:spPr>
            <a:xfrm>
              <a:off x="1153295" y="1606171"/>
              <a:ext cx="4400838" cy="48884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39652474-4971-C79B-89A8-DF2C74331AC5}"/>
                </a:ext>
              </a:extLst>
            </p:cNvPr>
            <p:cNvSpPr/>
            <p:nvPr/>
          </p:nvSpPr>
          <p:spPr>
            <a:xfrm>
              <a:off x="1153296" y="1606171"/>
              <a:ext cx="467159" cy="488847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sp>
          <p:nvSpPr>
            <p:cNvPr id="8" name="標題 1">
              <a:extLst>
                <a:ext uri="{FF2B5EF4-FFF2-40B4-BE49-F238E27FC236}">
                  <a16:creationId xmlns:a16="http://schemas.microsoft.com/office/drawing/2014/main" id="{DDC77310-FDB7-A2F0-C0D4-6FB8FCC18AF3}"/>
                </a:ext>
              </a:extLst>
            </p:cNvPr>
            <p:cNvSpPr txBox="1">
              <a:spLocks/>
            </p:cNvSpPr>
            <p:nvPr/>
          </p:nvSpPr>
          <p:spPr>
            <a:xfrm>
              <a:off x="1294909" y="1712549"/>
              <a:ext cx="168165" cy="312056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Autofit/>
            </a:bodyPr>
            <a:lstStyle>
              <a:lvl1pPr algn="ctr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US" altLang="zh-TW" sz="1800" dirty="0">
                  <a:solidFill>
                    <a:schemeClr val="bg1">
                      <a:lumMod val="95000"/>
                    </a:schemeClr>
                  </a:solidFill>
                  <a:latin typeface="Snell Roundhand" panose="02000603080000090004" pitchFamily="2" charset="0"/>
                </a:rPr>
                <a:t>1</a:t>
              </a:r>
              <a:endParaRPr lang="zh-TW" altLang="en-US" sz="1800" dirty="0">
                <a:solidFill>
                  <a:schemeClr val="bg1">
                    <a:lumMod val="95000"/>
                  </a:schemeClr>
                </a:solidFill>
                <a:latin typeface="Snell Roundhand" panose="02000603080000090004" pitchFamily="2" charset="0"/>
              </a:endParaRPr>
            </a:p>
          </p:txBody>
        </p:sp>
        <p:sp>
          <p:nvSpPr>
            <p:cNvPr id="9" name="副標題 2">
              <a:extLst>
                <a:ext uri="{FF2B5EF4-FFF2-40B4-BE49-F238E27FC236}">
                  <a16:creationId xmlns:a16="http://schemas.microsoft.com/office/drawing/2014/main" id="{F9481A6E-9273-676A-D34C-7F5D011C51F5}"/>
                </a:ext>
              </a:extLst>
            </p:cNvPr>
            <p:cNvSpPr txBox="1">
              <a:spLocks/>
            </p:cNvSpPr>
            <p:nvPr/>
          </p:nvSpPr>
          <p:spPr>
            <a:xfrm>
              <a:off x="1736547" y="1642137"/>
              <a:ext cx="3701493" cy="452881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>
                <a:lnSpc>
                  <a:spcPct val="100000"/>
                </a:lnSpc>
              </a:pPr>
              <a:r>
                <a:rPr lang="zh-TW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Introduction and Problem Setup</a:t>
              </a:r>
              <a:endParaRPr lang="en-US" altLang="zh-TW" sz="2000" dirty="0">
                <a:latin typeface="Cambria" panose="02040503050406030204" pitchFamily="18" charset="0"/>
                <a:ea typeface="Songti SC" panose="02010600040101010101" pitchFamily="2" charset="-122"/>
              </a:endParaRPr>
            </a:p>
          </p:txBody>
        </p:sp>
      </p:grp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9F2A41C8-D689-2AC5-9147-092A77CF22C2}"/>
              </a:ext>
            </a:extLst>
          </p:cNvPr>
          <p:cNvSpPr txBox="1"/>
          <p:nvPr/>
        </p:nvSpPr>
        <p:spPr>
          <a:xfrm>
            <a:off x="1055270" y="2056766"/>
            <a:ext cx="672598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三扇門</a:t>
            </a:r>
            <a:endParaRPr kumimoji="1" lang="en-US" altLang="zh-TW" dirty="0"/>
          </a:p>
          <a:p>
            <a:r>
              <a:rPr kumimoji="1" lang="en-US" altLang="zh-TW" dirty="0"/>
              <a:t>1</a:t>
            </a:r>
            <a:r>
              <a:rPr kumimoji="1" lang="zh-TW" altLang="en-US" dirty="0"/>
              <a:t>參賽者第一次選到跑車</a:t>
            </a:r>
            <a:endParaRPr kumimoji="1" lang="en-US" altLang="zh-TW" dirty="0"/>
          </a:p>
          <a:p>
            <a:r>
              <a:rPr kumimoji="1" lang="en-US" altLang="zh-TW" dirty="0"/>
              <a:t>2</a:t>
            </a:r>
            <a:r>
              <a:rPr kumimoji="1" lang="zh-TW" altLang="en-US" dirty="0"/>
              <a:t>參賽者第一次沒選到跑車</a:t>
            </a:r>
            <a:r>
              <a:rPr kumimoji="1" lang="en-US" altLang="zh-TW" dirty="0"/>
              <a:t>:</a:t>
            </a:r>
          </a:p>
          <a:p>
            <a:r>
              <a:rPr kumimoji="1" lang="en-US" altLang="zh-TW" dirty="0"/>
              <a:t>   a.</a:t>
            </a:r>
            <a:r>
              <a:rPr kumimoji="1" lang="zh-TW" altLang="en-US" dirty="0"/>
              <a:t>主持人知道跑車在哪</a:t>
            </a:r>
            <a:endParaRPr kumimoji="1" lang="en-US" altLang="zh-TW" dirty="0"/>
          </a:p>
          <a:p>
            <a:r>
              <a:rPr kumimoji="1" lang="zh-TW" altLang="en-US" dirty="0"/>
              <a:t>  </a:t>
            </a:r>
            <a:r>
              <a:rPr kumimoji="1" lang="en-US" altLang="zh-TW" dirty="0"/>
              <a:t> b.</a:t>
            </a:r>
            <a:r>
              <a:rPr kumimoji="1" lang="zh-TW" altLang="en-US" dirty="0"/>
              <a:t>主持人不知道跑車在哪</a:t>
            </a:r>
          </a:p>
        </p:txBody>
      </p:sp>
    </p:spTree>
    <p:extLst>
      <p:ext uri="{BB962C8B-B14F-4D97-AF65-F5344CB8AC3E}">
        <p14:creationId xmlns:p14="http://schemas.microsoft.com/office/powerpoint/2010/main" val="2833855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7EFD0CC-C205-117C-D1C2-3A87A61F7F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第一次選到跑車的機率估計值分布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C475E865-0F02-3CD2-814C-FA241DC8B3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888" y="1803996"/>
            <a:ext cx="5259718" cy="3843277"/>
          </a:xfrm>
          <a:prstGeom prst="rect">
            <a:avLst/>
          </a:prstGeom>
        </p:spPr>
      </p:pic>
      <p:pic>
        <p:nvPicPr>
          <p:cNvPr id="3" name="圖片 2">
            <a:extLst>
              <a:ext uri="{FF2B5EF4-FFF2-40B4-BE49-F238E27FC236}">
                <a16:creationId xmlns:a16="http://schemas.microsoft.com/office/drawing/2014/main" id="{39833074-4D92-AE6C-2310-3ED3BD2CC2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6530" y="1803997"/>
            <a:ext cx="5774582" cy="4029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25906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1138D2-7B20-35C1-DEDA-E15551EF92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B868441-1C5C-769B-DC96-8A3C09AA88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第一次選到跑車的機率估計值分布</a:t>
            </a: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F9E6D6E5-EB2B-6C51-26F7-D992CE97C4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721" y="1840833"/>
            <a:ext cx="5615965" cy="4065698"/>
          </a:xfrm>
          <a:prstGeom prst="rect">
            <a:avLst/>
          </a:prstGeom>
        </p:spPr>
      </p:pic>
      <p:pic>
        <p:nvPicPr>
          <p:cNvPr id="3" name="圖片 2">
            <a:extLst>
              <a:ext uri="{FF2B5EF4-FFF2-40B4-BE49-F238E27FC236}">
                <a16:creationId xmlns:a16="http://schemas.microsoft.com/office/drawing/2014/main" id="{B8E4AB80-C3DA-E510-BFA5-59C8AA207A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1686" y="1840833"/>
            <a:ext cx="5956944" cy="4156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1260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F18056-4B0E-3F91-83BB-F5CE0CD861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6131E7-9D31-0160-EC54-C566688BB6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第一次選到跑車的機率估計值分布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17619283-1AFC-8B7F-0D76-10B6100402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185" y="1795422"/>
            <a:ext cx="5979183" cy="4017035"/>
          </a:xfrm>
          <a:prstGeom prst="rect">
            <a:avLst/>
          </a:prstGeom>
        </p:spPr>
      </p:pic>
      <p:pic>
        <p:nvPicPr>
          <p:cNvPr id="3" name="圖片 2">
            <a:extLst>
              <a:ext uri="{FF2B5EF4-FFF2-40B4-BE49-F238E27FC236}">
                <a16:creationId xmlns:a16="http://schemas.microsoft.com/office/drawing/2014/main" id="{03A1776E-1336-87F8-9C10-943F2BEA69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5214" y="2051223"/>
            <a:ext cx="5241601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36962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2AB759-D638-BEF0-56D4-B73A30A3D9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303D47-C5C2-C7AD-6A01-75CCA5F1BD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第一次選到跑車的機率估計值分布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B0AF7C7F-548F-A280-F268-52B0E903B3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02" y="1690688"/>
            <a:ext cx="6149747" cy="4114831"/>
          </a:xfrm>
          <a:prstGeom prst="rect">
            <a:avLst/>
          </a:prstGeom>
        </p:spPr>
      </p:pic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8E916A37-E6B8-0FB0-9301-C678D1876F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9780231"/>
              </p:ext>
            </p:extLst>
          </p:nvPr>
        </p:nvGraphicFramePr>
        <p:xfrm>
          <a:off x="6631958" y="2508008"/>
          <a:ext cx="5133015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1005">
                  <a:extLst>
                    <a:ext uri="{9D8B030D-6E8A-4147-A177-3AD203B41FA5}">
                      <a16:colId xmlns:a16="http://schemas.microsoft.com/office/drawing/2014/main" val="3945390195"/>
                    </a:ext>
                  </a:extLst>
                </a:gridCol>
                <a:gridCol w="1711005">
                  <a:extLst>
                    <a:ext uri="{9D8B030D-6E8A-4147-A177-3AD203B41FA5}">
                      <a16:colId xmlns:a16="http://schemas.microsoft.com/office/drawing/2014/main" val="1634968925"/>
                    </a:ext>
                  </a:extLst>
                </a:gridCol>
                <a:gridCol w="1711005">
                  <a:extLst>
                    <a:ext uri="{9D8B030D-6E8A-4147-A177-3AD203B41FA5}">
                      <a16:colId xmlns:a16="http://schemas.microsoft.com/office/drawing/2014/main" val="2116488310"/>
                    </a:ext>
                  </a:extLst>
                </a:gridCol>
              </a:tblGrid>
              <a:tr h="317201">
                <a:tc>
                  <a:txBody>
                    <a:bodyPr/>
                    <a:lstStyle/>
                    <a:p>
                      <a:endParaRPr lang="zh-TW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800" dirty="0">
                          <a:solidFill>
                            <a:schemeClr val="tx1"/>
                          </a:solidFill>
                        </a:rPr>
                        <a:t>Mean </a:t>
                      </a:r>
                      <a:endParaRPr lang="zh-TW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800" dirty="0">
                          <a:solidFill>
                            <a:schemeClr val="tx1"/>
                          </a:solidFill>
                        </a:rPr>
                        <a:t>Var </a:t>
                      </a:r>
                      <a:endParaRPr lang="zh-TW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1030795"/>
                  </a:ext>
                </a:extLst>
              </a:tr>
              <a:tr h="31720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</a:t>
                      </a:r>
                      <a:r>
                        <a:rPr lang="zh-TW" alt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內建的函數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0.333476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0.0002325059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8222618"/>
                  </a:ext>
                </a:extLst>
              </a:tr>
              <a:tr h="31720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Inverse function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0.332992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0.0002223783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74095210"/>
                  </a:ext>
                </a:extLst>
              </a:tr>
              <a:tr h="54749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Inverse function with controlling var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0.333429</a:t>
                      </a:r>
                    </a:p>
                    <a:p>
                      <a:endParaRPr lang="zh-TW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0.0001163433</a:t>
                      </a:r>
                    </a:p>
                    <a:p>
                      <a:endParaRPr lang="zh-TW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7584152"/>
                  </a:ext>
                </a:extLst>
              </a:tr>
            </a:tbl>
          </a:graphicData>
        </a:graphic>
      </p:graphicFrame>
      <p:sp>
        <p:nvSpPr>
          <p:cNvPr id="7" name="文字方塊 6">
            <a:extLst>
              <a:ext uri="{FF2B5EF4-FFF2-40B4-BE49-F238E27FC236}">
                <a16:creationId xmlns:a16="http://schemas.microsoft.com/office/drawing/2014/main" id="{B0893D44-E615-E39B-2469-B5A8A6982E59}"/>
              </a:ext>
            </a:extLst>
          </p:cNvPr>
          <p:cNvSpPr txBox="1"/>
          <p:nvPr/>
        </p:nvSpPr>
        <p:spPr>
          <a:xfrm>
            <a:off x="6556973" y="5006753"/>
            <a:ext cx="554946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400" dirty="0"/>
              <a:t>Variance reduction = 47.68226</a:t>
            </a:r>
            <a:r>
              <a:rPr lang="zh-TW" altLang="en-US" sz="2400" dirty="0"/>
              <a:t> </a:t>
            </a:r>
            <a:r>
              <a:rPr lang="en-US" altLang="zh-TW" sz="2400" dirty="0"/>
              <a:t>%</a:t>
            </a:r>
          </a:p>
        </p:txBody>
      </p:sp>
    </p:spTree>
    <p:extLst>
      <p:ext uri="{BB962C8B-B14F-4D97-AF65-F5344CB8AC3E}">
        <p14:creationId xmlns:p14="http://schemas.microsoft.com/office/powerpoint/2010/main" val="17176585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2E1C0-131B-1E26-1B6A-7E991D4A2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B981A46-C57C-3CC3-143B-73F53F951F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第一次選到跑車的機率估計值分布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A26B06BA-EE5B-82E6-61A4-98E7C594F2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02" y="1690688"/>
            <a:ext cx="6149747" cy="4114831"/>
          </a:xfrm>
          <a:prstGeom prst="rect">
            <a:avLst/>
          </a:prstGeom>
        </p:spPr>
      </p:pic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3E99BEDC-F326-E9E8-3AE1-77122D08FAC5}"/>
              </a:ext>
            </a:extLst>
          </p:cNvPr>
          <p:cNvGraphicFramePr>
            <a:graphicFrameLocks noGrp="1"/>
          </p:cNvGraphicFramePr>
          <p:nvPr/>
        </p:nvGraphicFramePr>
        <p:xfrm>
          <a:off x="6631958" y="2508008"/>
          <a:ext cx="5133015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1005">
                  <a:extLst>
                    <a:ext uri="{9D8B030D-6E8A-4147-A177-3AD203B41FA5}">
                      <a16:colId xmlns:a16="http://schemas.microsoft.com/office/drawing/2014/main" val="3945390195"/>
                    </a:ext>
                  </a:extLst>
                </a:gridCol>
                <a:gridCol w="1711005">
                  <a:extLst>
                    <a:ext uri="{9D8B030D-6E8A-4147-A177-3AD203B41FA5}">
                      <a16:colId xmlns:a16="http://schemas.microsoft.com/office/drawing/2014/main" val="1634968925"/>
                    </a:ext>
                  </a:extLst>
                </a:gridCol>
                <a:gridCol w="1711005">
                  <a:extLst>
                    <a:ext uri="{9D8B030D-6E8A-4147-A177-3AD203B41FA5}">
                      <a16:colId xmlns:a16="http://schemas.microsoft.com/office/drawing/2014/main" val="2116488310"/>
                    </a:ext>
                  </a:extLst>
                </a:gridCol>
              </a:tblGrid>
              <a:tr h="317201">
                <a:tc>
                  <a:txBody>
                    <a:bodyPr/>
                    <a:lstStyle/>
                    <a:p>
                      <a:endParaRPr lang="zh-TW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800" dirty="0">
                          <a:solidFill>
                            <a:schemeClr val="tx1"/>
                          </a:solidFill>
                        </a:rPr>
                        <a:t>Mean </a:t>
                      </a:r>
                      <a:endParaRPr lang="zh-TW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800" dirty="0">
                          <a:solidFill>
                            <a:schemeClr val="tx1"/>
                          </a:solidFill>
                        </a:rPr>
                        <a:t>Var </a:t>
                      </a:r>
                      <a:endParaRPr lang="zh-TW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1030795"/>
                  </a:ext>
                </a:extLst>
              </a:tr>
              <a:tr h="31720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</a:t>
                      </a:r>
                      <a:r>
                        <a:rPr lang="zh-TW" alt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內建的函數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0.333476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0.0002325059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8222618"/>
                  </a:ext>
                </a:extLst>
              </a:tr>
              <a:tr h="31720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Inverse function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0.332992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0.0002223783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74095210"/>
                  </a:ext>
                </a:extLst>
              </a:tr>
              <a:tr h="54749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Inverse function with controlling var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0.333429</a:t>
                      </a:r>
                    </a:p>
                    <a:p>
                      <a:endParaRPr lang="zh-TW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0.0001163433</a:t>
                      </a:r>
                    </a:p>
                    <a:p>
                      <a:endParaRPr lang="zh-TW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7584152"/>
                  </a:ext>
                </a:extLst>
              </a:tr>
            </a:tbl>
          </a:graphicData>
        </a:graphic>
      </p:graphicFrame>
      <p:sp>
        <p:nvSpPr>
          <p:cNvPr id="7" name="文字方塊 6">
            <a:extLst>
              <a:ext uri="{FF2B5EF4-FFF2-40B4-BE49-F238E27FC236}">
                <a16:creationId xmlns:a16="http://schemas.microsoft.com/office/drawing/2014/main" id="{DBC7DBD7-C045-1590-1E7C-5CDCD08D347D}"/>
              </a:ext>
            </a:extLst>
          </p:cNvPr>
          <p:cNvSpPr txBox="1"/>
          <p:nvPr/>
        </p:nvSpPr>
        <p:spPr>
          <a:xfrm>
            <a:off x="6556973" y="5006753"/>
            <a:ext cx="554946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400" dirty="0"/>
              <a:t>Variance reduction = 47.68226</a:t>
            </a:r>
            <a:r>
              <a:rPr lang="zh-TW" altLang="en-US" sz="2400" dirty="0"/>
              <a:t> </a:t>
            </a:r>
            <a:r>
              <a:rPr lang="en-US" altLang="zh-TW" sz="2400" dirty="0"/>
              <a:t>%</a:t>
            </a:r>
          </a:p>
        </p:txBody>
      </p:sp>
    </p:spTree>
    <p:extLst>
      <p:ext uri="{BB962C8B-B14F-4D97-AF65-F5344CB8AC3E}">
        <p14:creationId xmlns:p14="http://schemas.microsoft.com/office/powerpoint/2010/main" val="30861547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3D830D-8361-A4E9-3A24-3C4E343E78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字方塊 7">
            <a:extLst>
              <a:ext uri="{FF2B5EF4-FFF2-40B4-BE49-F238E27FC236}">
                <a16:creationId xmlns:a16="http://schemas.microsoft.com/office/drawing/2014/main" id="{39A941DF-54BE-BCC5-EE87-28B4B5E9EF22}"/>
              </a:ext>
            </a:extLst>
          </p:cNvPr>
          <p:cNvSpPr txBox="1"/>
          <p:nvPr/>
        </p:nvSpPr>
        <p:spPr>
          <a:xfrm>
            <a:off x="460184" y="344080"/>
            <a:ext cx="67259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2</a:t>
            </a:r>
            <a:r>
              <a:rPr kumimoji="1" lang="zh-TW" altLang="en-US" dirty="0"/>
              <a:t>參賽者第一次沒選到跑車</a:t>
            </a:r>
            <a:r>
              <a:rPr kumimoji="1" lang="en-US" altLang="zh-TW" dirty="0"/>
              <a:t>:</a:t>
            </a:r>
          </a:p>
          <a:p>
            <a:r>
              <a:rPr kumimoji="1" lang="en-US" altLang="zh-TW" dirty="0"/>
              <a:t>   a.</a:t>
            </a:r>
            <a:r>
              <a:rPr kumimoji="1" lang="zh-TW" altLang="en-US" dirty="0"/>
              <a:t>主持人知道跑車在哪</a:t>
            </a:r>
            <a:endParaRPr kumimoji="1" lang="en-US" altLang="zh-TW" dirty="0"/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CF4C63F7-F4E0-8A9C-C418-815A7ECC9F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419" y="2169203"/>
            <a:ext cx="4143755" cy="2991732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46716844-0934-55A2-6161-01E9AB1D14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8423" y="2169203"/>
            <a:ext cx="4143755" cy="2991732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B83BB405-05D1-C873-D74A-D135518903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245" y="2169203"/>
            <a:ext cx="4143755" cy="2991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78215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7ECDD9-AEA2-6414-CB0A-865D55203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字方塊 7">
            <a:extLst>
              <a:ext uri="{FF2B5EF4-FFF2-40B4-BE49-F238E27FC236}">
                <a16:creationId xmlns:a16="http://schemas.microsoft.com/office/drawing/2014/main" id="{2676D721-A8AC-F80D-1573-535BAD13DB5D}"/>
              </a:ext>
            </a:extLst>
          </p:cNvPr>
          <p:cNvSpPr txBox="1"/>
          <p:nvPr/>
        </p:nvSpPr>
        <p:spPr>
          <a:xfrm>
            <a:off x="460184" y="344080"/>
            <a:ext cx="67259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2</a:t>
            </a:r>
            <a:r>
              <a:rPr kumimoji="1" lang="zh-TW" altLang="en-US" dirty="0"/>
              <a:t>參賽者第一次沒選到跑車</a:t>
            </a:r>
            <a:r>
              <a:rPr kumimoji="1" lang="en-US" altLang="zh-TW" dirty="0"/>
              <a:t>:</a:t>
            </a:r>
          </a:p>
          <a:p>
            <a:r>
              <a:rPr kumimoji="1" lang="en-US" altLang="zh-TW" dirty="0"/>
              <a:t>   a.</a:t>
            </a:r>
            <a:r>
              <a:rPr kumimoji="1" lang="zh-TW" altLang="en-US" dirty="0"/>
              <a:t>主持人知道跑車在哪</a:t>
            </a:r>
            <a:r>
              <a:rPr kumimoji="1" lang="en-US" altLang="zh-TW" dirty="0"/>
              <a:t>- </a:t>
            </a:r>
            <a:r>
              <a:rPr kumimoji="1" lang="zh-TW" altLang="en-US" dirty="0">
                <a:solidFill>
                  <a:srgbClr val="FF0000"/>
                </a:solidFill>
              </a:rPr>
              <a:t>還沒做</a:t>
            </a:r>
            <a:r>
              <a:rPr kumimoji="1" lang="en-US" altLang="zh-TW" dirty="0">
                <a:solidFill>
                  <a:srgbClr val="FF0000"/>
                </a:solidFill>
              </a:rPr>
              <a:t>variance reduction</a:t>
            </a:r>
          </a:p>
        </p:txBody>
      </p:sp>
    </p:spTree>
    <p:extLst>
      <p:ext uri="{BB962C8B-B14F-4D97-AF65-F5344CB8AC3E}">
        <p14:creationId xmlns:p14="http://schemas.microsoft.com/office/powerpoint/2010/main" val="22523767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D59C12-3FD5-FE39-1875-963BE63AA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字方塊 7">
            <a:extLst>
              <a:ext uri="{FF2B5EF4-FFF2-40B4-BE49-F238E27FC236}">
                <a16:creationId xmlns:a16="http://schemas.microsoft.com/office/drawing/2014/main" id="{BE98C1BF-7B2F-5D9E-88D2-9CB1465CAD0F}"/>
              </a:ext>
            </a:extLst>
          </p:cNvPr>
          <p:cNvSpPr txBox="1"/>
          <p:nvPr/>
        </p:nvSpPr>
        <p:spPr>
          <a:xfrm>
            <a:off x="460184" y="344080"/>
            <a:ext cx="67259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2</a:t>
            </a:r>
            <a:r>
              <a:rPr kumimoji="1" lang="zh-TW" altLang="en-US" dirty="0"/>
              <a:t>參賽者第一次沒選到跑車</a:t>
            </a:r>
            <a:r>
              <a:rPr kumimoji="1" lang="en-US" altLang="zh-TW" dirty="0"/>
              <a:t>:</a:t>
            </a:r>
          </a:p>
          <a:p>
            <a:r>
              <a:rPr kumimoji="1" lang="zh-TW" altLang="en-US" dirty="0"/>
              <a:t>   </a:t>
            </a:r>
            <a:r>
              <a:rPr kumimoji="1" lang="en-US" altLang="zh-TW" dirty="0"/>
              <a:t>b.</a:t>
            </a:r>
            <a:r>
              <a:rPr kumimoji="1" lang="zh-TW" altLang="en-US" dirty="0"/>
              <a:t>主持人不知道跑車在哪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7642374F-C051-49E8-7C44-7D19A0AC40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4123" y="2169203"/>
            <a:ext cx="4143754" cy="2991732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4337C5DB-A9DF-55FB-E8CB-C37AD72E54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419" y="2169203"/>
            <a:ext cx="4143755" cy="2991732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F7ADF133-D9ED-D6B3-357C-1C39825175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9828" y="2169203"/>
            <a:ext cx="4143754" cy="2991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65545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5C75C9-D822-B54D-8CEA-58F7BCCB88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字方塊 7">
            <a:extLst>
              <a:ext uri="{FF2B5EF4-FFF2-40B4-BE49-F238E27FC236}">
                <a16:creationId xmlns:a16="http://schemas.microsoft.com/office/drawing/2014/main" id="{88AA62A5-1478-4FEE-D28F-E64EF1676486}"/>
              </a:ext>
            </a:extLst>
          </p:cNvPr>
          <p:cNvSpPr txBox="1"/>
          <p:nvPr/>
        </p:nvSpPr>
        <p:spPr>
          <a:xfrm>
            <a:off x="460184" y="344080"/>
            <a:ext cx="67259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2</a:t>
            </a:r>
            <a:r>
              <a:rPr kumimoji="1" lang="zh-TW" altLang="en-US" dirty="0"/>
              <a:t>參賽者第一次沒選到跑車</a:t>
            </a:r>
            <a:r>
              <a:rPr kumimoji="1" lang="en-US" altLang="zh-TW" dirty="0"/>
              <a:t>:</a:t>
            </a:r>
          </a:p>
          <a:p>
            <a:r>
              <a:rPr kumimoji="1" lang="en-US" altLang="zh-TW" dirty="0"/>
              <a:t>   a.</a:t>
            </a:r>
            <a:r>
              <a:rPr kumimoji="1" lang="zh-TW" altLang="en-US" dirty="0"/>
              <a:t>主持人知道跑車在哪</a:t>
            </a:r>
            <a:r>
              <a:rPr kumimoji="1" lang="en-US" altLang="zh-TW" dirty="0"/>
              <a:t>- </a:t>
            </a:r>
            <a:r>
              <a:rPr kumimoji="1" lang="zh-TW" altLang="en-US" dirty="0">
                <a:solidFill>
                  <a:srgbClr val="FF0000"/>
                </a:solidFill>
              </a:rPr>
              <a:t>還沒做</a:t>
            </a:r>
            <a:r>
              <a:rPr kumimoji="1" lang="en-US" altLang="zh-TW" dirty="0">
                <a:solidFill>
                  <a:srgbClr val="FF0000"/>
                </a:solidFill>
              </a:rPr>
              <a:t>variance reduction</a:t>
            </a:r>
          </a:p>
        </p:txBody>
      </p:sp>
    </p:spTree>
    <p:extLst>
      <p:ext uri="{BB962C8B-B14F-4D97-AF65-F5344CB8AC3E}">
        <p14:creationId xmlns:p14="http://schemas.microsoft.com/office/powerpoint/2010/main" val="7164653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B9122F-7C5E-0B16-8E80-00854308E6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A71BCF6-A318-6903-FB9F-AE12CE87F7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換門選到跑車的機率估計值分布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30F8968E-141C-BE08-510D-61A9FF6805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6039" y="1690688"/>
            <a:ext cx="7131741" cy="4686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85967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BE549A-B877-38A5-871C-2F415C1555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FA24B85-DFDD-FE02-FBD4-DA9A9AB1D8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換門選到跑車的機率估計值分布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011C4616-12E6-FEC4-3747-3FEE476BC3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1601" y="1816812"/>
            <a:ext cx="6761529" cy="4349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50354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626344-36A4-7549-6CB3-4976781728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D7B00DA-5128-36BA-113F-3BF2D4330E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換門選到跑車的機率估計值分布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0011E1F3-5A75-67C1-FBA5-958989FE92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4518" y="1587062"/>
            <a:ext cx="7124522" cy="4905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30764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5FE065-1083-E3AA-89D2-48DFFEBB22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87F900-06DA-417E-F0A2-6F535EBD17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換門選到跑車的機率估計值分布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05BCFDE0-6EDE-8F8F-A93B-A94BFABFAF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079" y="1948027"/>
            <a:ext cx="7106608" cy="3470867"/>
          </a:xfrm>
          <a:prstGeom prst="rect">
            <a:avLst/>
          </a:prstGeom>
        </p:spPr>
      </p:pic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485A1E40-B754-2C2C-3A0F-8B998A52A6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4220196"/>
              </p:ext>
            </p:extLst>
          </p:nvPr>
        </p:nvGraphicFramePr>
        <p:xfrm>
          <a:off x="7456349" y="1814536"/>
          <a:ext cx="4469508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9836">
                  <a:extLst>
                    <a:ext uri="{9D8B030D-6E8A-4147-A177-3AD203B41FA5}">
                      <a16:colId xmlns:a16="http://schemas.microsoft.com/office/drawing/2014/main" val="3945390195"/>
                    </a:ext>
                  </a:extLst>
                </a:gridCol>
                <a:gridCol w="1489836">
                  <a:extLst>
                    <a:ext uri="{9D8B030D-6E8A-4147-A177-3AD203B41FA5}">
                      <a16:colId xmlns:a16="http://schemas.microsoft.com/office/drawing/2014/main" val="1634968925"/>
                    </a:ext>
                  </a:extLst>
                </a:gridCol>
                <a:gridCol w="1489836">
                  <a:extLst>
                    <a:ext uri="{9D8B030D-6E8A-4147-A177-3AD203B41FA5}">
                      <a16:colId xmlns:a16="http://schemas.microsoft.com/office/drawing/2014/main" val="2116488310"/>
                    </a:ext>
                  </a:extLst>
                </a:gridCol>
              </a:tblGrid>
              <a:tr h="323693">
                <a:tc>
                  <a:txBody>
                    <a:bodyPr/>
                    <a:lstStyle/>
                    <a:p>
                      <a:endParaRPr lang="zh-TW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800" dirty="0">
                          <a:solidFill>
                            <a:schemeClr val="tx1"/>
                          </a:solidFill>
                        </a:rPr>
                        <a:t>Mean </a:t>
                      </a:r>
                      <a:endParaRPr lang="zh-TW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800" dirty="0">
                          <a:solidFill>
                            <a:schemeClr val="tx1"/>
                          </a:solidFill>
                        </a:rPr>
                        <a:t>Var </a:t>
                      </a:r>
                      <a:endParaRPr lang="zh-TW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1030795"/>
                  </a:ext>
                </a:extLst>
              </a:tr>
              <a:tr h="32369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</a:t>
                      </a:r>
                      <a:r>
                        <a:rPr lang="zh-TW" alt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內建的函數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0.666337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0.0002281916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8222618"/>
                  </a:ext>
                </a:extLst>
              </a:tr>
              <a:tr h="32369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Inverse function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0.666547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0.0002395794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74095210"/>
                  </a:ext>
                </a:extLst>
              </a:tr>
              <a:tr h="55870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Inverse function with controlling var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0.667157</a:t>
                      </a:r>
                    </a:p>
                    <a:p>
                      <a:endParaRPr lang="zh-TW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0.0001117501</a:t>
                      </a:r>
                    </a:p>
                    <a:p>
                      <a:endParaRPr lang="zh-TW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7584152"/>
                  </a:ext>
                </a:extLst>
              </a:tr>
            </a:tbl>
          </a:graphicData>
        </a:graphic>
      </p:graphicFrame>
      <p:sp>
        <p:nvSpPr>
          <p:cNvPr id="9" name="文字方塊 8">
            <a:extLst>
              <a:ext uri="{FF2B5EF4-FFF2-40B4-BE49-F238E27FC236}">
                <a16:creationId xmlns:a16="http://schemas.microsoft.com/office/drawing/2014/main" id="{9F62C18D-4D45-A946-7FC7-EEC004040125}"/>
              </a:ext>
            </a:extLst>
          </p:cNvPr>
          <p:cNvSpPr txBox="1"/>
          <p:nvPr/>
        </p:nvSpPr>
        <p:spPr>
          <a:xfrm>
            <a:off x="7456349" y="4957229"/>
            <a:ext cx="45385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400" dirty="0"/>
              <a:t>Variance reduction = 47.47977%</a:t>
            </a:r>
          </a:p>
        </p:txBody>
      </p:sp>
    </p:spTree>
    <p:extLst>
      <p:ext uri="{BB962C8B-B14F-4D97-AF65-F5344CB8AC3E}">
        <p14:creationId xmlns:p14="http://schemas.microsoft.com/office/powerpoint/2010/main" val="9729035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99DE13-8610-23BB-43BF-32B9622E86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群組 1">
            <a:extLst>
              <a:ext uri="{FF2B5EF4-FFF2-40B4-BE49-F238E27FC236}">
                <a16:creationId xmlns:a16="http://schemas.microsoft.com/office/drawing/2014/main" id="{1E1D427A-8A51-E2BC-1169-82258C83EB5A}"/>
              </a:ext>
            </a:extLst>
          </p:cNvPr>
          <p:cNvGrpSpPr/>
          <p:nvPr/>
        </p:nvGrpSpPr>
        <p:grpSpPr>
          <a:xfrm>
            <a:off x="821689" y="647641"/>
            <a:ext cx="4748228" cy="488847"/>
            <a:chOff x="1153295" y="1606171"/>
            <a:chExt cx="4748228" cy="488847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A8865710-AA6B-808A-E80C-DBA0C9B0FF22}"/>
                </a:ext>
              </a:extLst>
            </p:cNvPr>
            <p:cNvSpPr/>
            <p:nvPr/>
          </p:nvSpPr>
          <p:spPr>
            <a:xfrm>
              <a:off x="1153295" y="1606171"/>
              <a:ext cx="4400838" cy="48884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38C45C06-7D7B-84EF-A3CB-AD3BADE15EC1}"/>
                </a:ext>
              </a:extLst>
            </p:cNvPr>
            <p:cNvSpPr/>
            <p:nvPr/>
          </p:nvSpPr>
          <p:spPr>
            <a:xfrm>
              <a:off x="1153296" y="1606171"/>
              <a:ext cx="467159" cy="488847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sp>
          <p:nvSpPr>
            <p:cNvPr id="6" name="標題 1">
              <a:extLst>
                <a:ext uri="{FF2B5EF4-FFF2-40B4-BE49-F238E27FC236}">
                  <a16:creationId xmlns:a16="http://schemas.microsoft.com/office/drawing/2014/main" id="{AC238A57-A3C5-4FFB-D9EC-B7556E1BC23E}"/>
                </a:ext>
              </a:extLst>
            </p:cNvPr>
            <p:cNvSpPr txBox="1">
              <a:spLocks/>
            </p:cNvSpPr>
            <p:nvPr/>
          </p:nvSpPr>
          <p:spPr>
            <a:xfrm>
              <a:off x="1294909" y="1712549"/>
              <a:ext cx="168165" cy="312056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Autofit/>
            </a:bodyPr>
            <a:lstStyle>
              <a:lvl1pPr algn="ctr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US" altLang="zh-TW" sz="1800" dirty="0">
                  <a:solidFill>
                    <a:schemeClr val="bg1">
                      <a:lumMod val="95000"/>
                    </a:schemeClr>
                  </a:solidFill>
                  <a:latin typeface="Snell Roundhand" panose="02000603080000090004" pitchFamily="2" charset="0"/>
                </a:rPr>
                <a:t>2</a:t>
              </a:r>
              <a:endParaRPr lang="zh-TW" altLang="en-US" sz="1800" dirty="0">
                <a:solidFill>
                  <a:schemeClr val="bg1">
                    <a:lumMod val="95000"/>
                  </a:schemeClr>
                </a:solidFill>
                <a:latin typeface="Snell Roundhand" panose="02000603080000090004" pitchFamily="2" charset="0"/>
              </a:endParaRPr>
            </a:p>
          </p:txBody>
        </p:sp>
        <p:sp>
          <p:nvSpPr>
            <p:cNvPr id="10" name="副標題 2">
              <a:extLst>
                <a:ext uri="{FF2B5EF4-FFF2-40B4-BE49-F238E27FC236}">
                  <a16:creationId xmlns:a16="http://schemas.microsoft.com/office/drawing/2014/main" id="{F31BE1A4-81D9-91E5-A9AE-CF89B208262B}"/>
                </a:ext>
              </a:extLst>
            </p:cNvPr>
            <p:cNvSpPr txBox="1">
              <a:spLocks/>
            </p:cNvSpPr>
            <p:nvPr/>
          </p:nvSpPr>
          <p:spPr>
            <a:xfrm>
              <a:off x="1736547" y="1642137"/>
              <a:ext cx="4164976" cy="452881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>
                <a:lnSpc>
                  <a:spcPct val="100000"/>
                </a:lnSpc>
              </a:pPr>
              <a:r>
                <a:rPr lang="zh-TW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Statistical Inference</a:t>
              </a:r>
              <a:endParaRPr lang="en-US" altLang="zh-TW" sz="2000" dirty="0">
                <a:latin typeface="Cambria" panose="02040503050406030204" pitchFamily="18" charset="0"/>
                <a:ea typeface="Songti SC" panose="02010600040101010101" pitchFamily="2" charset="-122"/>
              </a:endParaRPr>
            </a:p>
          </p:txBody>
        </p:sp>
      </p:grp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4C71D08F-9B15-D375-6873-7EC899FBFE2C}"/>
              </a:ext>
            </a:extLst>
          </p:cNvPr>
          <p:cNvSpPr txBox="1"/>
          <p:nvPr/>
        </p:nvSpPr>
        <p:spPr>
          <a:xfrm>
            <a:off x="1055270" y="2056766"/>
            <a:ext cx="67259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latin typeface="+mn-ea"/>
              </a:rPr>
              <a:t>Bootstrap</a:t>
            </a:r>
          </a:p>
          <a:p>
            <a:r>
              <a:rPr kumimoji="1" lang="zh-TW" altLang="en-US" dirty="0">
                <a:latin typeface="+mn-ea"/>
              </a:rPr>
              <a:t>估計值的變異程度、信賴區間</a:t>
            </a:r>
          </a:p>
        </p:txBody>
      </p:sp>
    </p:spTree>
    <p:extLst>
      <p:ext uri="{BB962C8B-B14F-4D97-AF65-F5344CB8AC3E}">
        <p14:creationId xmlns:p14="http://schemas.microsoft.com/office/powerpoint/2010/main" val="30175376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1B529A-3711-E449-E949-CF78506B43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E38731B-FB1B-E71D-6971-5FC80C05A3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換門選到跑車的機率</a:t>
            </a:r>
            <a:r>
              <a:rPr lang="en-US" altLang="zh-TW" dirty="0"/>
              <a:t>bootstrap</a:t>
            </a:r>
            <a:endParaRPr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EC04CD31-E58F-A599-9C8F-0CBA9E39E7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381247"/>
            <a:ext cx="6698216" cy="5111628"/>
          </a:xfrm>
          <a:prstGeom prst="rect">
            <a:avLst/>
          </a:prstGeom>
        </p:spPr>
      </p:pic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04067146-CC14-C1C9-4C9B-61DAB749A3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0759900"/>
              </p:ext>
            </p:extLst>
          </p:nvPr>
        </p:nvGraphicFramePr>
        <p:xfrm>
          <a:off x="5938344" y="3429000"/>
          <a:ext cx="5962868" cy="13255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0717">
                  <a:extLst>
                    <a:ext uri="{9D8B030D-6E8A-4147-A177-3AD203B41FA5}">
                      <a16:colId xmlns:a16="http://schemas.microsoft.com/office/drawing/2014/main" val="3945390195"/>
                    </a:ext>
                  </a:extLst>
                </a:gridCol>
                <a:gridCol w="1490717">
                  <a:extLst>
                    <a:ext uri="{9D8B030D-6E8A-4147-A177-3AD203B41FA5}">
                      <a16:colId xmlns:a16="http://schemas.microsoft.com/office/drawing/2014/main" val="1634968925"/>
                    </a:ext>
                  </a:extLst>
                </a:gridCol>
                <a:gridCol w="1490717">
                  <a:extLst>
                    <a:ext uri="{9D8B030D-6E8A-4147-A177-3AD203B41FA5}">
                      <a16:colId xmlns:a16="http://schemas.microsoft.com/office/drawing/2014/main" val="2116488310"/>
                    </a:ext>
                  </a:extLst>
                </a:gridCol>
                <a:gridCol w="1490717">
                  <a:extLst>
                    <a:ext uri="{9D8B030D-6E8A-4147-A177-3AD203B41FA5}">
                      <a16:colId xmlns:a16="http://schemas.microsoft.com/office/drawing/2014/main" val="1012104654"/>
                    </a:ext>
                  </a:extLst>
                </a:gridCol>
              </a:tblGrid>
              <a:tr h="502857">
                <a:tc>
                  <a:txBody>
                    <a:bodyPr/>
                    <a:lstStyle/>
                    <a:p>
                      <a:pPr algn="ctr"/>
                      <a:endParaRPr lang="zh-TW" altLang="en-US" sz="1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zh-TW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original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zh-TW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bias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std. error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1030795"/>
                  </a:ext>
                </a:extLst>
              </a:tr>
              <a:tr h="82270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boostrap</a:t>
                      </a:r>
                      <a:endParaRPr lang="zh-TW" altLang="en-US" sz="18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0.6667018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2.51497e-07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3.550272e-05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82226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5367985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DA63C-014D-A7DB-F9B3-7716998940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群組 1">
            <a:extLst>
              <a:ext uri="{FF2B5EF4-FFF2-40B4-BE49-F238E27FC236}">
                <a16:creationId xmlns:a16="http://schemas.microsoft.com/office/drawing/2014/main" id="{EA326F09-B5D7-AB1E-3741-E5480E8A74EB}"/>
              </a:ext>
            </a:extLst>
          </p:cNvPr>
          <p:cNvGrpSpPr/>
          <p:nvPr/>
        </p:nvGrpSpPr>
        <p:grpSpPr>
          <a:xfrm>
            <a:off x="821689" y="647641"/>
            <a:ext cx="4748228" cy="488847"/>
            <a:chOff x="1153295" y="1606171"/>
            <a:chExt cx="4748228" cy="488847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CEBE332C-4E0D-DFE3-8F38-15CA7550EFD2}"/>
                </a:ext>
              </a:extLst>
            </p:cNvPr>
            <p:cNvSpPr/>
            <p:nvPr/>
          </p:nvSpPr>
          <p:spPr>
            <a:xfrm>
              <a:off x="1153295" y="1606171"/>
              <a:ext cx="4400838" cy="48884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BAA80E5B-1CD7-A353-65D5-846FD93D4455}"/>
                </a:ext>
              </a:extLst>
            </p:cNvPr>
            <p:cNvSpPr/>
            <p:nvPr/>
          </p:nvSpPr>
          <p:spPr>
            <a:xfrm>
              <a:off x="1153296" y="1606171"/>
              <a:ext cx="467159" cy="488847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sp>
          <p:nvSpPr>
            <p:cNvPr id="6" name="標題 1">
              <a:extLst>
                <a:ext uri="{FF2B5EF4-FFF2-40B4-BE49-F238E27FC236}">
                  <a16:creationId xmlns:a16="http://schemas.microsoft.com/office/drawing/2014/main" id="{4170CFBA-2E90-A493-9D04-2F3E08931C70}"/>
                </a:ext>
              </a:extLst>
            </p:cNvPr>
            <p:cNvSpPr txBox="1">
              <a:spLocks/>
            </p:cNvSpPr>
            <p:nvPr/>
          </p:nvSpPr>
          <p:spPr>
            <a:xfrm>
              <a:off x="1294909" y="1712549"/>
              <a:ext cx="168165" cy="312056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Autofit/>
            </a:bodyPr>
            <a:lstStyle>
              <a:lvl1pPr algn="ctr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US" altLang="zh-TW" sz="1800" dirty="0">
                  <a:solidFill>
                    <a:schemeClr val="bg1">
                      <a:lumMod val="95000"/>
                    </a:schemeClr>
                  </a:solidFill>
                  <a:latin typeface="Snell Roundhand" panose="02000603080000090004" pitchFamily="2" charset="0"/>
                </a:rPr>
                <a:t>2</a:t>
              </a:r>
              <a:endParaRPr lang="zh-TW" altLang="en-US" sz="1800" dirty="0">
                <a:solidFill>
                  <a:schemeClr val="bg1">
                    <a:lumMod val="95000"/>
                  </a:schemeClr>
                </a:solidFill>
                <a:latin typeface="Snell Roundhand" panose="02000603080000090004" pitchFamily="2" charset="0"/>
              </a:endParaRPr>
            </a:p>
          </p:txBody>
        </p:sp>
        <p:sp>
          <p:nvSpPr>
            <p:cNvPr id="10" name="副標題 2">
              <a:extLst>
                <a:ext uri="{FF2B5EF4-FFF2-40B4-BE49-F238E27FC236}">
                  <a16:creationId xmlns:a16="http://schemas.microsoft.com/office/drawing/2014/main" id="{B178E08B-7494-9F3E-CDB1-8E8F5A0D96A0}"/>
                </a:ext>
              </a:extLst>
            </p:cNvPr>
            <p:cNvSpPr txBox="1">
              <a:spLocks/>
            </p:cNvSpPr>
            <p:nvPr/>
          </p:nvSpPr>
          <p:spPr>
            <a:xfrm>
              <a:off x="1736547" y="1642137"/>
              <a:ext cx="4164976" cy="452881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>
                <a:lnSpc>
                  <a:spcPct val="100000"/>
                </a:lnSpc>
              </a:pPr>
              <a:r>
                <a:rPr lang="zh-TW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Statistical Inference</a:t>
              </a:r>
              <a:endParaRPr lang="en-US" altLang="zh-TW" sz="2000" dirty="0">
                <a:latin typeface="Cambria" panose="02040503050406030204" pitchFamily="18" charset="0"/>
                <a:ea typeface="Songti SC" panose="02010600040101010101" pitchFamily="2" charset="-122"/>
              </a:endParaRPr>
            </a:p>
          </p:txBody>
        </p:sp>
      </p:grp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1C11AA6B-0D40-6A69-04B6-4807DECA96FD}"/>
              </a:ext>
            </a:extLst>
          </p:cNvPr>
          <p:cNvSpPr txBox="1"/>
          <p:nvPr/>
        </p:nvSpPr>
        <p:spPr>
          <a:xfrm>
            <a:off x="1055270" y="2056766"/>
            <a:ext cx="67259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zh-TW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Permutation Test</a:t>
            </a:r>
          </a:p>
          <a:p>
            <a:r>
              <a:rPr kumimoji="1" lang="en-US" altLang="zh-TW" dirty="0">
                <a:latin typeface="+mj-ea"/>
                <a:ea typeface="+mj-ea"/>
              </a:rPr>
              <a:t>Leave one out:</a:t>
            </a:r>
            <a:r>
              <a:rPr kumimoji="1" lang="zh-TW" altLang="en-US" dirty="0">
                <a:latin typeface="+mj-ea"/>
                <a:ea typeface="+mj-ea"/>
              </a:rPr>
              <a:t>看有沒有人會特別影響整體平均、勝率的穩定性</a:t>
            </a:r>
          </a:p>
        </p:txBody>
      </p:sp>
    </p:spTree>
    <p:extLst>
      <p:ext uri="{BB962C8B-B14F-4D97-AF65-F5344CB8AC3E}">
        <p14:creationId xmlns:p14="http://schemas.microsoft.com/office/powerpoint/2010/main" val="39273359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80C37E-C445-183E-3B38-D86BA0815E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6F94FEA-EE65-A5F9-1DCF-758820CD15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換門選到跑車的機率</a:t>
            </a:r>
            <a:r>
              <a:rPr lang="en-US" altLang="zh-TW" dirty="0" err="1"/>
              <a:t>jacknife</a:t>
            </a:r>
            <a:endParaRPr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27A3A811-8555-30A2-331E-642692DC66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725" y="1860331"/>
            <a:ext cx="7615205" cy="3871795"/>
          </a:xfrm>
          <a:prstGeom prst="rect">
            <a:avLst/>
          </a:prstGeom>
        </p:spPr>
      </p:pic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8F7F677F-7A99-589A-149F-1B4CA7C8F6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2287789"/>
              </p:ext>
            </p:extLst>
          </p:nvPr>
        </p:nvGraphicFramePr>
        <p:xfrm>
          <a:off x="5738649" y="3351650"/>
          <a:ext cx="6348248" cy="13255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7062">
                  <a:extLst>
                    <a:ext uri="{9D8B030D-6E8A-4147-A177-3AD203B41FA5}">
                      <a16:colId xmlns:a16="http://schemas.microsoft.com/office/drawing/2014/main" val="3945390195"/>
                    </a:ext>
                  </a:extLst>
                </a:gridCol>
                <a:gridCol w="1587062">
                  <a:extLst>
                    <a:ext uri="{9D8B030D-6E8A-4147-A177-3AD203B41FA5}">
                      <a16:colId xmlns:a16="http://schemas.microsoft.com/office/drawing/2014/main" val="1634968925"/>
                    </a:ext>
                  </a:extLst>
                </a:gridCol>
                <a:gridCol w="1587062">
                  <a:extLst>
                    <a:ext uri="{9D8B030D-6E8A-4147-A177-3AD203B41FA5}">
                      <a16:colId xmlns:a16="http://schemas.microsoft.com/office/drawing/2014/main" val="2116488310"/>
                    </a:ext>
                  </a:extLst>
                </a:gridCol>
                <a:gridCol w="1587062">
                  <a:extLst>
                    <a:ext uri="{9D8B030D-6E8A-4147-A177-3AD203B41FA5}">
                      <a16:colId xmlns:a16="http://schemas.microsoft.com/office/drawing/2014/main" val="1012104654"/>
                    </a:ext>
                  </a:extLst>
                </a:gridCol>
              </a:tblGrid>
              <a:tr h="502857">
                <a:tc>
                  <a:txBody>
                    <a:bodyPr/>
                    <a:lstStyle/>
                    <a:p>
                      <a:pPr algn="ctr"/>
                      <a:endParaRPr lang="zh-TW" altLang="en-US" sz="1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zh-TW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original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zh-TW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bias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std. error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1030795"/>
                  </a:ext>
                </a:extLst>
              </a:tr>
              <a:tr h="82270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Jacknife</a:t>
                      </a:r>
                      <a:endParaRPr lang="zh-TW" altLang="en-US" sz="18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0.6667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3.558749e-05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82226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725660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E6182D-7C12-71BA-C8D7-7A4F1FBD3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群組 1">
            <a:extLst>
              <a:ext uri="{FF2B5EF4-FFF2-40B4-BE49-F238E27FC236}">
                <a16:creationId xmlns:a16="http://schemas.microsoft.com/office/drawing/2014/main" id="{83C240DD-3CE7-E93A-C9EE-1CEF4E673B40}"/>
              </a:ext>
            </a:extLst>
          </p:cNvPr>
          <p:cNvGrpSpPr/>
          <p:nvPr/>
        </p:nvGrpSpPr>
        <p:grpSpPr>
          <a:xfrm>
            <a:off x="821689" y="647641"/>
            <a:ext cx="4748228" cy="488847"/>
            <a:chOff x="1153295" y="1606171"/>
            <a:chExt cx="4748228" cy="488847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C4D71610-C82F-F795-675D-DD1EE2391E14}"/>
                </a:ext>
              </a:extLst>
            </p:cNvPr>
            <p:cNvSpPr/>
            <p:nvPr/>
          </p:nvSpPr>
          <p:spPr>
            <a:xfrm>
              <a:off x="1153295" y="1606171"/>
              <a:ext cx="4400838" cy="48884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9E7748B1-9A99-86DD-DA54-DAD4529548CE}"/>
                </a:ext>
              </a:extLst>
            </p:cNvPr>
            <p:cNvSpPr/>
            <p:nvPr/>
          </p:nvSpPr>
          <p:spPr>
            <a:xfrm>
              <a:off x="1153296" y="1606171"/>
              <a:ext cx="467159" cy="488847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sp>
          <p:nvSpPr>
            <p:cNvPr id="6" name="標題 1">
              <a:extLst>
                <a:ext uri="{FF2B5EF4-FFF2-40B4-BE49-F238E27FC236}">
                  <a16:creationId xmlns:a16="http://schemas.microsoft.com/office/drawing/2014/main" id="{68EC98CF-851B-7D43-791C-258F2532C0D3}"/>
                </a:ext>
              </a:extLst>
            </p:cNvPr>
            <p:cNvSpPr txBox="1">
              <a:spLocks/>
            </p:cNvSpPr>
            <p:nvPr/>
          </p:nvSpPr>
          <p:spPr>
            <a:xfrm>
              <a:off x="1294909" y="1712549"/>
              <a:ext cx="168165" cy="312056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Autofit/>
            </a:bodyPr>
            <a:lstStyle>
              <a:lvl1pPr algn="ctr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US" altLang="zh-TW" sz="1800" dirty="0">
                  <a:solidFill>
                    <a:schemeClr val="bg1">
                      <a:lumMod val="95000"/>
                    </a:schemeClr>
                  </a:solidFill>
                  <a:latin typeface="Snell Roundhand" panose="02000603080000090004" pitchFamily="2" charset="0"/>
                </a:rPr>
                <a:t>2</a:t>
              </a:r>
              <a:endParaRPr lang="zh-TW" altLang="en-US" sz="1800" dirty="0">
                <a:solidFill>
                  <a:schemeClr val="bg1">
                    <a:lumMod val="95000"/>
                  </a:schemeClr>
                </a:solidFill>
                <a:latin typeface="Snell Roundhand" panose="02000603080000090004" pitchFamily="2" charset="0"/>
              </a:endParaRPr>
            </a:p>
          </p:txBody>
        </p:sp>
        <p:sp>
          <p:nvSpPr>
            <p:cNvPr id="10" name="副標題 2">
              <a:extLst>
                <a:ext uri="{FF2B5EF4-FFF2-40B4-BE49-F238E27FC236}">
                  <a16:creationId xmlns:a16="http://schemas.microsoft.com/office/drawing/2014/main" id="{22F13FBE-F481-A68E-4AEA-68D86AE22562}"/>
                </a:ext>
              </a:extLst>
            </p:cNvPr>
            <p:cNvSpPr txBox="1">
              <a:spLocks/>
            </p:cNvSpPr>
            <p:nvPr/>
          </p:nvSpPr>
          <p:spPr>
            <a:xfrm>
              <a:off x="1736547" y="1642137"/>
              <a:ext cx="4164976" cy="452881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>
                <a:lnSpc>
                  <a:spcPct val="100000"/>
                </a:lnSpc>
              </a:pPr>
              <a:r>
                <a:rPr lang="zh-TW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Statistical Inference</a:t>
              </a:r>
              <a:endParaRPr lang="en-US" altLang="zh-TW" sz="2000" dirty="0">
                <a:latin typeface="Cambria" panose="02040503050406030204" pitchFamily="18" charset="0"/>
                <a:ea typeface="Songti SC" panose="02010600040101010101" pitchFamily="2" charset="-122"/>
              </a:endParaRPr>
            </a:p>
          </p:txBody>
        </p:sp>
      </p:grp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A2C7D8CA-AD74-4804-226B-C9E562596176}"/>
              </a:ext>
            </a:extLst>
          </p:cNvPr>
          <p:cNvSpPr txBox="1"/>
          <p:nvPr/>
        </p:nvSpPr>
        <p:spPr>
          <a:xfrm>
            <a:off x="1055270" y="2056766"/>
            <a:ext cx="67259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zh-TW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Permutation Test</a:t>
            </a:r>
          </a:p>
          <a:p>
            <a:r>
              <a:rPr kumimoji="1" lang="zh-TW" altLang="en-US" dirty="0">
                <a:latin typeface="+mj-ea"/>
                <a:ea typeface="+mj-ea"/>
              </a:rPr>
              <a:t>取後不放回 檢定是否同分佈</a:t>
            </a:r>
          </a:p>
        </p:txBody>
      </p:sp>
    </p:spTree>
    <p:extLst>
      <p:ext uri="{BB962C8B-B14F-4D97-AF65-F5344CB8AC3E}">
        <p14:creationId xmlns:p14="http://schemas.microsoft.com/office/powerpoint/2010/main" val="959479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7E470C-942F-50EF-BB2C-301A31C410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88C53A5-707F-4306-DDCD-A2C176C64B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換門與不換門選到跑車的機率是否有差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9B8EA847-9F59-F906-4012-B8F72ACBCE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6137" y="1877042"/>
            <a:ext cx="9039726" cy="4507192"/>
          </a:xfrm>
          <a:prstGeom prst="rect">
            <a:avLst/>
          </a:prstGeom>
        </p:spPr>
      </p:pic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3D14FB93-EA99-6085-49E0-7EA2ABC2D6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0634159"/>
              </p:ext>
            </p:extLst>
          </p:nvPr>
        </p:nvGraphicFramePr>
        <p:xfrm>
          <a:off x="3547770" y="3983752"/>
          <a:ext cx="7197964" cy="13255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9491">
                  <a:extLst>
                    <a:ext uri="{9D8B030D-6E8A-4147-A177-3AD203B41FA5}">
                      <a16:colId xmlns:a16="http://schemas.microsoft.com/office/drawing/2014/main" val="3945390195"/>
                    </a:ext>
                  </a:extLst>
                </a:gridCol>
                <a:gridCol w="1799491">
                  <a:extLst>
                    <a:ext uri="{9D8B030D-6E8A-4147-A177-3AD203B41FA5}">
                      <a16:colId xmlns:a16="http://schemas.microsoft.com/office/drawing/2014/main" val="1634968925"/>
                    </a:ext>
                  </a:extLst>
                </a:gridCol>
                <a:gridCol w="1799491">
                  <a:extLst>
                    <a:ext uri="{9D8B030D-6E8A-4147-A177-3AD203B41FA5}">
                      <a16:colId xmlns:a16="http://schemas.microsoft.com/office/drawing/2014/main" val="2116488310"/>
                    </a:ext>
                  </a:extLst>
                </a:gridCol>
                <a:gridCol w="1799491">
                  <a:extLst>
                    <a:ext uri="{9D8B030D-6E8A-4147-A177-3AD203B41FA5}">
                      <a16:colId xmlns:a16="http://schemas.microsoft.com/office/drawing/2014/main" val="1012104654"/>
                    </a:ext>
                  </a:extLst>
                </a:gridCol>
              </a:tblGrid>
              <a:tr h="502857">
                <a:tc>
                  <a:txBody>
                    <a:bodyPr/>
                    <a:lstStyle/>
                    <a:p>
                      <a:pPr algn="ctr"/>
                      <a:endParaRPr lang="zh-TW" altLang="en-US" sz="1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zh-TW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Mean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zh-TW" sz="18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Obs</a:t>
                      </a:r>
                      <a:r>
                        <a:rPr lang="en-US" altLang="zh-TW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std. error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1030795"/>
                  </a:ext>
                </a:extLst>
              </a:tr>
              <a:tr h="82270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Jacknife</a:t>
                      </a:r>
                      <a:endParaRPr lang="zh-TW" altLang="en-US" sz="18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0.0001991734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0.333292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0.007416886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82226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9022525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58C00D-9A75-0C1C-9981-44DC692C0A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群組 1">
            <a:extLst>
              <a:ext uri="{FF2B5EF4-FFF2-40B4-BE49-F238E27FC236}">
                <a16:creationId xmlns:a16="http://schemas.microsoft.com/office/drawing/2014/main" id="{D570B749-DC0C-6238-CF5F-149C140801E0}"/>
              </a:ext>
            </a:extLst>
          </p:cNvPr>
          <p:cNvGrpSpPr/>
          <p:nvPr/>
        </p:nvGrpSpPr>
        <p:grpSpPr>
          <a:xfrm>
            <a:off x="821689" y="647641"/>
            <a:ext cx="4748228" cy="488847"/>
            <a:chOff x="1153295" y="1606171"/>
            <a:chExt cx="4748228" cy="488847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A6EECC83-AEBC-4FE5-8AD9-6A4A34C255DC}"/>
                </a:ext>
              </a:extLst>
            </p:cNvPr>
            <p:cNvSpPr/>
            <p:nvPr/>
          </p:nvSpPr>
          <p:spPr>
            <a:xfrm>
              <a:off x="1153295" y="1606171"/>
              <a:ext cx="4400838" cy="48884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CF2A8A71-6536-AB49-73A3-0FAFD988688C}"/>
                </a:ext>
              </a:extLst>
            </p:cNvPr>
            <p:cNvSpPr/>
            <p:nvPr/>
          </p:nvSpPr>
          <p:spPr>
            <a:xfrm>
              <a:off x="1153296" y="1606171"/>
              <a:ext cx="467159" cy="488847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sp>
          <p:nvSpPr>
            <p:cNvPr id="6" name="標題 1">
              <a:extLst>
                <a:ext uri="{FF2B5EF4-FFF2-40B4-BE49-F238E27FC236}">
                  <a16:creationId xmlns:a16="http://schemas.microsoft.com/office/drawing/2014/main" id="{74C6F6AA-8064-8AED-2AE5-811DBC7384A9}"/>
                </a:ext>
              </a:extLst>
            </p:cNvPr>
            <p:cNvSpPr txBox="1">
              <a:spLocks/>
            </p:cNvSpPr>
            <p:nvPr/>
          </p:nvSpPr>
          <p:spPr>
            <a:xfrm>
              <a:off x="1294909" y="1712549"/>
              <a:ext cx="168165" cy="312056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Autofit/>
            </a:bodyPr>
            <a:lstStyle>
              <a:lvl1pPr algn="ctr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US" altLang="zh-TW" sz="1800" dirty="0">
                  <a:solidFill>
                    <a:schemeClr val="bg1">
                      <a:lumMod val="95000"/>
                    </a:schemeClr>
                  </a:solidFill>
                  <a:latin typeface="Snell Roundhand" panose="02000603080000090004" pitchFamily="2" charset="0"/>
                </a:rPr>
                <a:t>2</a:t>
              </a:r>
              <a:endParaRPr lang="zh-TW" altLang="en-US" sz="1800" dirty="0">
                <a:solidFill>
                  <a:schemeClr val="bg1">
                    <a:lumMod val="95000"/>
                  </a:schemeClr>
                </a:solidFill>
                <a:latin typeface="Snell Roundhand" panose="02000603080000090004" pitchFamily="2" charset="0"/>
              </a:endParaRPr>
            </a:p>
          </p:txBody>
        </p:sp>
        <p:sp>
          <p:nvSpPr>
            <p:cNvPr id="10" name="副標題 2">
              <a:extLst>
                <a:ext uri="{FF2B5EF4-FFF2-40B4-BE49-F238E27FC236}">
                  <a16:creationId xmlns:a16="http://schemas.microsoft.com/office/drawing/2014/main" id="{85CBE710-32B3-11C9-4CD2-D8A87D37595E}"/>
                </a:ext>
              </a:extLst>
            </p:cNvPr>
            <p:cNvSpPr txBox="1">
              <a:spLocks/>
            </p:cNvSpPr>
            <p:nvPr/>
          </p:nvSpPr>
          <p:spPr>
            <a:xfrm>
              <a:off x="1736547" y="1642137"/>
              <a:ext cx="4164976" cy="452881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>
                <a:lnSpc>
                  <a:spcPct val="100000"/>
                </a:lnSpc>
              </a:pPr>
              <a:r>
                <a:rPr lang="zh-TW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Statistical Inference</a:t>
              </a:r>
              <a:endParaRPr lang="en-US" altLang="zh-TW" sz="2000" dirty="0">
                <a:latin typeface="Cambria" panose="02040503050406030204" pitchFamily="18" charset="0"/>
                <a:ea typeface="Songti SC" panose="02010600040101010101" pitchFamily="2" charset="-122"/>
              </a:endParaRPr>
            </a:p>
          </p:txBody>
        </p:sp>
      </p:grp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8BDA8358-D649-B03C-0C29-5A96E5150762}"/>
              </a:ext>
            </a:extLst>
          </p:cNvPr>
          <p:cNvSpPr txBox="1"/>
          <p:nvPr/>
        </p:nvSpPr>
        <p:spPr>
          <a:xfrm>
            <a:off x="1055270" y="2056766"/>
            <a:ext cx="67259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zh-TW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Markov Chain Monte Carlo (MCMC)-Metropolis Hastings Algorithm</a:t>
            </a:r>
          </a:p>
          <a:p>
            <a:r>
              <a:rPr kumimoji="1" lang="en-US" altLang="zh-TW" dirty="0">
                <a:latin typeface="+mj-ea"/>
                <a:ea typeface="+mj-ea"/>
              </a:rPr>
              <a:t>Leave one out:</a:t>
            </a:r>
            <a:r>
              <a:rPr kumimoji="1" lang="zh-TW" altLang="en-US" dirty="0">
                <a:latin typeface="+mj-ea"/>
                <a:ea typeface="+mj-ea"/>
              </a:rPr>
              <a:t>看有沒有人會特別影響整體平均、勝率的穩定性</a:t>
            </a:r>
          </a:p>
        </p:txBody>
      </p:sp>
    </p:spTree>
    <p:extLst>
      <p:ext uri="{BB962C8B-B14F-4D97-AF65-F5344CB8AC3E}">
        <p14:creationId xmlns:p14="http://schemas.microsoft.com/office/powerpoint/2010/main" val="293660351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28756-F771-CD75-6EE2-059E33FDD3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A078E2-DFBD-521C-F7B6-59B366924D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使用</a:t>
            </a:r>
            <a:r>
              <a:rPr lang="en-US" altLang="zh-TW" dirty="0"/>
              <a:t>MCMC</a:t>
            </a:r>
            <a:r>
              <a:rPr lang="zh-TW" altLang="en-US" dirty="0"/>
              <a:t>估計換門的勝率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0F0CB0EF-6BB0-7696-FAB6-C8B5DB836E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748" y="1407794"/>
            <a:ext cx="8150497" cy="4042411"/>
          </a:xfrm>
          <a:prstGeom prst="rect">
            <a:avLst/>
          </a:prstGeom>
        </p:spPr>
      </p:pic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E4934B2A-18C0-CA38-B66F-0C20CDEE63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2637344"/>
              </p:ext>
            </p:extLst>
          </p:nvPr>
        </p:nvGraphicFramePr>
        <p:xfrm>
          <a:off x="8481213" y="4761143"/>
          <a:ext cx="3573420" cy="12402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3355">
                  <a:extLst>
                    <a:ext uri="{9D8B030D-6E8A-4147-A177-3AD203B41FA5}">
                      <a16:colId xmlns:a16="http://schemas.microsoft.com/office/drawing/2014/main" val="3945390195"/>
                    </a:ext>
                  </a:extLst>
                </a:gridCol>
                <a:gridCol w="893355">
                  <a:extLst>
                    <a:ext uri="{9D8B030D-6E8A-4147-A177-3AD203B41FA5}">
                      <a16:colId xmlns:a16="http://schemas.microsoft.com/office/drawing/2014/main" val="1634968925"/>
                    </a:ext>
                  </a:extLst>
                </a:gridCol>
                <a:gridCol w="893355">
                  <a:extLst>
                    <a:ext uri="{9D8B030D-6E8A-4147-A177-3AD203B41FA5}">
                      <a16:colId xmlns:a16="http://schemas.microsoft.com/office/drawing/2014/main" val="2116488310"/>
                    </a:ext>
                  </a:extLst>
                </a:gridCol>
                <a:gridCol w="893355">
                  <a:extLst>
                    <a:ext uri="{9D8B030D-6E8A-4147-A177-3AD203B41FA5}">
                      <a16:colId xmlns:a16="http://schemas.microsoft.com/office/drawing/2014/main" val="1012104654"/>
                    </a:ext>
                  </a:extLst>
                </a:gridCol>
              </a:tblGrid>
              <a:tr h="542703"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zh-TW" sz="1200" b="1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N_iter</a:t>
                      </a:r>
                      <a:endParaRPr lang="en-US" altLang="zh-TW" sz="1200" b="1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zh-TW" sz="1200" b="1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Porb</a:t>
                      </a:r>
                      <a:r>
                        <a:rPr lang="en-US" altLang="zh-TW" sz="12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_Start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dirty="0">
                          <a:solidFill>
                            <a:schemeClr val="tx1"/>
                          </a:solidFill>
                        </a:rPr>
                        <a:t>proposal </a:t>
                      </a:r>
                      <a:r>
                        <a:rPr lang="en-US" altLang="zh-TW" sz="1200" dirty="0" err="1">
                          <a:solidFill>
                            <a:schemeClr val="tx1"/>
                          </a:solidFill>
                        </a:rPr>
                        <a:t>sd</a:t>
                      </a:r>
                      <a:endParaRPr lang="en-US" altLang="zh-TW" sz="12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1030795"/>
                  </a:ext>
                </a:extLst>
              </a:tr>
              <a:tr h="69754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Value </a:t>
                      </a:r>
                      <a:endParaRPr lang="zh-TW" altLang="en-US" sz="12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zh-TW" sz="1200" dirty="0">
                          <a:solidFill>
                            <a:schemeClr val="tx1"/>
                          </a:solidFill>
                        </a:rPr>
                        <a:t>10000</a:t>
                      </a:r>
                      <a:endParaRPr lang="en-US" altLang="zh-TW" sz="12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82226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9718925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6A0DD20-2ADD-EC2A-0692-B35AB134D4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樹狀圖</a:t>
            </a:r>
          </a:p>
        </p:txBody>
      </p:sp>
      <p:sp>
        <p:nvSpPr>
          <p:cNvPr id="4" name="箭號: 向右 3">
            <a:extLst>
              <a:ext uri="{FF2B5EF4-FFF2-40B4-BE49-F238E27FC236}">
                <a16:creationId xmlns:a16="http://schemas.microsoft.com/office/drawing/2014/main" id="{6939BA04-CB6D-245C-8234-644B782576C0}"/>
              </a:ext>
            </a:extLst>
          </p:cNvPr>
          <p:cNvSpPr/>
          <p:nvPr/>
        </p:nvSpPr>
        <p:spPr>
          <a:xfrm rot="19599261">
            <a:off x="4057998" y="2503038"/>
            <a:ext cx="1173949" cy="236712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箭號: 向右 4">
            <a:extLst>
              <a:ext uri="{FF2B5EF4-FFF2-40B4-BE49-F238E27FC236}">
                <a16:creationId xmlns:a16="http://schemas.microsoft.com/office/drawing/2014/main" id="{84ED3043-9630-1085-C82E-F02E58A71C39}"/>
              </a:ext>
            </a:extLst>
          </p:cNvPr>
          <p:cNvSpPr/>
          <p:nvPr/>
        </p:nvSpPr>
        <p:spPr>
          <a:xfrm rot="1450683">
            <a:off x="4025061" y="4423800"/>
            <a:ext cx="1173949" cy="258094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" name="箭號: 向右 5">
            <a:extLst>
              <a:ext uri="{FF2B5EF4-FFF2-40B4-BE49-F238E27FC236}">
                <a16:creationId xmlns:a16="http://schemas.microsoft.com/office/drawing/2014/main" id="{C40B2B22-740C-827B-93AE-5AF759499A08}"/>
              </a:ext>
            </a:extLst>
          </p:cNvPr>
          <p:cNvSpPr/>
          <p:nvPr/>
        </p:nvSpPr>
        <p:spPr>
          <a:xfrm rot="19599551">
            <a:off x="6380068" y="1171894"/>
            <a:ext cx="1173949" cy="205251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箭號: 向右 6">
            <a:extLst>
              <a:ext uri="{FF2B5EF4-FFF2-40B4-BE49-F238E27FC236}">
                <a16:creationId xmlns:a16="http://schemas.microsoft.com/office/drawing/2014/main" id="{0E7B9993-EEEC-026D-CC0F-C3A2F0CA1EA1}"/>
              </a:ext>
            </a:extLst>
          </p:cNvPr>
          <p:cNvSpPr/>
          <p:nvPr/>
        </p:nvSpPr>
        <p:spPr>
          <a:xfrm rot="1448578">
            <a:off x="6411991" y="2742778"/>
            <a:ext cx="1173949" cy="210584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702BC395-95C1-DAD6-859E-7F4F46197EA8}"/>
              </a:ext>
            </a:extLst>
          </p:cNvPr>
          <p:cNvSpPr txBox="1"/>
          <p:nvPr/>
        </p:nvSpPr>
        <p:spPr>
          <a:xfrm>
            <a:off x="5408666" y="1964188"/>
            <a:ext cx="687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Goat </a:t>
            </a:r>
            <a:endParaRPr lang="zh-TW" altLang="en-US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C964E82C-BE5A-C7B6-E797-949A14E60671}"/>
              </a:ext>
            </a:extLst>
          </p:cNvPr>
          <p:cNvSpPr txBox="1"/>
          <p:nvPr/>
        </p:nvSpPr>
        <p:spPr>
          <a:xfrm>
            <a:off x="5569213" y="4862447"/>
            <a:ext cx="687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Car  </a:t>
            </a:r>
            <a:endParaRPr lang="zh-TW" altLang="en-US" dirty="0"/>
          </a:p>
        </p:txBody>
      </p:sp>
      <p:sp>
        <p:nvSpPr>
          <p:cNvPr id="16" name="箭號: 向右 15">
            <a:extLst>
              <a:ext uri="{FF2B5EF4-FFF2-40B4-BE49-F238E27FC236}">
                <a16:creationId xmlns:a16="http://schemas.microsoft.com/office/drawing/2014/main" id="{E325F4A2-70E9-7248-C026-B7C959EDC59B}"/>
              </a:ext>
            </a:extLst>
          </p:cNvPr>
          <p:cNvSpPr/>
          <p:nvPr/>
        </p:nvSpPr>
        <p:spPr>
          <a:xfrm rot="19599551">
            <a:off x="6404654" y="4311173"/>
            <a:ext cx="1173949" cy="205251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" name="箭號: 向右 16">
            <a:extLst>
              <a:ext uri="{FF2B5EF4-FFF2-40B4-BE49-F238E27FC236}">
                <a16:creationId xmlns:a16="http://schemas.microsoft.com/office/drawing/2014/main" id="{3F650353-574C-BA18-034B-BFFF41ED1083}"/>
              </a:ext>
            </a:extLst>
          </p:cNvPr>
          <p:cNvSpPr/>
          <p:nvPr/>
        </p:nvSpPr>
        <p:spPr>
          <a:xfrm rot="1448578">
            <a:off x="6411991" y="5648854"/>
            <a:ext cx="1173949" cy="210584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DBDD7CBF-3130-1960-9836-2793362E864B}"/>
              </a:ext>
            </a:extLst>
          </p:cNvPr>
          <p:cNvSpPr txBox="1"/>
          <p:nvPr/>
        </p:nvSpPr>
        <p:spPr>
          <a:xfrm>
            <a:off x="2965150" y="3369669"/>
            <a:ext cx="9747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Choice </a:t>
            </a:r>
            <a:endParaRPr lang="zh-TW" altLang="en-US" dirty="0"/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55B9A18E-D40D-6DFF-2309-D75DB43D8244}"/>
              </a:ext>
            </a:extLst>
          </p:cNvPr>
          <p:cNvSpPr txBox="1"/>
          <p:nvPr/>
        </p:nvSpPr>
        <p:spPr>
          <a:xfrm>
            <a:off x="7917640" y="681506"/>
            <a:ext cx="687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Car  </a:t>
            </a:r>
            <a:endParaRPr lang="zh-TW" altLang="en-US" dirty="0"/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EC55DC75-4396-B20A-1A5E-393707DB341B}"/>
              </a:ext>
            </a:extLst>
          </p:cNvPr>
          <p:cNvSpPr txBox="1"/>
          <p:nvPr/>
        </p:nvSpPr>
        <p:spPr>
          <a:xfrm>
            <a:off x="7924799" y="2885759"/>
            <a:ext cx="687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Goat  </a:t>
            </a:r>
            <a:endParaRPr lang="zh-TW" altLang="en-US" dirty="0"/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51D5EEAC-8B1F-669F-6286-08E124DD6DED}"/>
              </a:ext>
            </a:extLst>
          </p:cNvPr>
          <p:cNvSpPr txBox="1"/>
          <p:nvPr/>
        </p:nvSpPr>
        <p:spPr>
          <a:xfrm>
            <a:off x="7924799" y="5905644"/>
            <a:ext cx="687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Car  </a:t>
            </a:r>
            <a:endParaRPr lang="zh-TW" altLang="en-US" dirty="0"/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B3067A1E-7294-B37F-7C69-E35311B0789B}"/>
              </a:ext>
            </a:extLst>
          </p:cNvPr>
          <p:cNvSpPr txBox="1"/>
          <p:nvPr/>
        </p:nvSpPr>
        <p:spPr>
          <a:xfrm>
            <a:off x="7924799" y="3876697"/>
            <a:ext cx="687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Goat  </a:t>
            </a:r>
            <a:endParaRPr lang="zh-TW" altLang="en-US" dirty="0"/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55F0CDA0-2206-F279-E911-C0573F5B9332}"/>
              </a:ext>
            </a:extLst>
          </p:cNvPr>
          <p:cNvSpPr txBox="1"/>
          <p:nvPr/>
        </p:nvSpPr>
        <p:spPr>
          <a:xfrm>
            <a:off x="4301305" y="1964188"/>
            <a:ext cx="687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2/3  </a:t>
            </a:r>
            <a:endParaRPr lang="zh-TW" altLang="en-US" dirty="0"/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1CE7E9BC-6F0B-F9F6-9188-DBB5CBBD8C56}"/>
              </a:ext>
            </a:extLst>
          </p:cNvPr>
          <p:cNvSpPr txBox="1"/>
          <p:nvPr/>
        </p:nvSpPr>
        <p:spPr>
          <a:xfrm>
            <a:off x="4301305" y="3920773"/>
            <a:ext cx="687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1/3  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91091906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833700-69F4-645B-5103-567A6DCDD2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1350EBF-7D2F-989B-08C4-13F7A0B82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換門的勝率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65EACAF8-C4E7-30AF-4E0A-3DB02A5CD1DF}"/>
              </a:ext>
            </a:extLst>
          </p:cNvPr>
          <p:cNvSpPr txBox="1"/>
          <p:nvPr/>
        </p:nvSpPr>
        <p:spPr>
          <a:xfrm>
            <a:off x="4020699" y="2235050"/>
            <a:ext cx="60683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 </a:t>
            </a:r>
            <a:endParaRPr lang="zh-TW" altLang="en-US" dirty="0"/>
          </a:p>
        </p:txBody>
      </p:sp>
      <p:pic>
        <p:nvPicPr>
          <p:cNvPr id="14" name="圖片 13">
            <a:extLst>
              <a:ext uri="{FF2B5EF4-FFF2-40B4-BE49-F238E27FC236}">
                <a16:creationId xmlns:a16="http://schemas.microsoft.com/office/drawing/2014/main" id="{2B1AA0AD-3322-F497-0190-3799D708DB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243" y="2057977"/>
            <a:ext cx="9298637" cy="1371023"/>
          </a:xfrm>
          <a:prstGeom prst="rect">
            <a:avLst/>
          </a:prstGeom>
        </p:spPr>
      </p:pic>
      <p:pic>
        <p:nvPicPr>
          <p:cNvPr id="18" name="圖片 17">
            <a:extLst>
              <a:ext uri="{FF2B5EF4-FFF2-40B4-BE49-F238E27FC236}">
                <a16:creationId xmlns:a16="http://schemas.microsoft.com/office/drawing/2014/main" id="{C011A5CB-371C-6508-AF22-E21A2D294A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3243" y="3992935"/>
            <a:ext cx="6356553" cy="1613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60419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1500</TotalTime>
  <Words>642</Words>
  <Application>Microsoft Macintosh PowerPoint</Application>
  <PresentationFormat>寬螢幕</PresentationFormat>
  <Paragraphs>172</Paragraphs>
  <Slides>26</Slides>
  <Notes>7</Notes>
  <HiddenSlides>0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26</vt:i4>
      </vt:variant>
    </vt:vector>
  </HeadingPairs>
  <TitlesOfParts>
    <vt:vector size="34" baseType="lpstr">
      <vt:lpstr>Songti SC</vt:lpstr>
      <vt:lpstr>Aptos</vt:lpstr>
      <vt:lpstr>Aptos Display</vt:lpstr>
      <vt:lpstr>Arial</vt:lpstr>
      <vt:lpstr>Calibri</vt:lpstr>
      <vt:lpstr>Cambria</vt:lpstr>
      <vt:lpstr>Snell Roundhand</vt:lpstr>
      <vt:lpstr>Office 佈景主題</vt:lpstr>
      <vt:lpstr>統計計算</vt:lpstr>
      <vt:lpstr>Outline</vt:lpstr>
      <vt:lpstr>PowerPoint 簡報</vt:lpstr>
      <vt:lpstr>第一次選到跑車的機率估計值分布</vt:lpstr>
      <vt:lpstr>第一次選到跑車的機率估計值分布</vt:lpstr>
      <vt:lpstr>第一次選到跑車的機率估計值分布</vt:lpstr>
      <vt:lpstr>第一次選到跑車的機率估計值分布</vt:lpstr>
      <vt:lpstr>第一次選到跑車的機率估計值分布</vt:lpstr>
      <vt:lpstr>PowerPoint 簡報</vt:lpstr>
      <vt:lpstr>PowerPoint 簡報</vt:lpstr>
      <vt:lpstr>PowerPoint 簡報</vt:lpstr>
      <vt:lpstr>PowerPoint 簡報</vt:lpstr>
      <vt:lpstr>換門選到跑車的機率估計值分布</vt:lpstr>
      <vt:lpstr>換門選到跑車的機率估計值分布</vt:lpstr>
      <vt:lpstr>換門選到跑車的機率估計值分布</vt:lpstr>
      <vt:lpstr>換門選到跑車的機率估計值分布</vt:lpstr>
      <vt:lpstr>PowerPoint 簡報</vt:lpstr>
      <vt:lpstr>換門選到跑車的機率bootstrap</vt:lpstr>
      <vt:lpstr>PowerPoint 簡報</vt:lpstr>
      <vt:lpstr>換門選到跑車的機率jacknife</vt:lpstr>
      <vt:lpstr>PowerPoint 簡報</vt:lpstr>
      <vt:lpstr>換門與不換門選到跑車的機率是否有差</vt:lpstr>
      <vt:lpstr>PowerPoint 簡報</vt:lpstr>
      <vt:lpstr>使用MCMC估計換門的勝率</vt:lpstr>
      <vt:lpstr>樹狀圖</vt:lpstr>
      <vt:lpstr>換門的勝率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俊延 賴</dc:creator>
  <cp:lastModifiedBy>采宣 林</cp:lastModifiedBy>
  <cp:revision>9</cp:revision>
  <dcterms:created xsi:type="dcterms:W3CDTF">2026-05-11T01:11:19Z</dcterms:created>
  <dcterms:modified xsi:type="dcterms:W3CDTF">2026-05-14T15:25:37Z</dcterms:modified>
</cp:coreProperties>
</file>