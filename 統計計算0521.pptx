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74" r:id="rId3"/>
    <p:sldId id="276" r:id="rId4"/>
    <p:sldId id="257" r:id="rId5"/>
    <p:sldId id="258" r:id="rId6"/>
    <p:sldId id="259" r:id="rId7"/>
    <p:sldId id="260" r:id="rId8"/>
    <p:sldId id="277" r:id="rId9"/>
    <p:sldId id="280" r:id="rId10"/>
    <p:sldId id="290" r:id="rId11"/>
    <p:sldId id="291" r:id="rId12"/>
    <p:sldId id="281" r:id="rId13"/>
    <p:sldId id="292" r:id="rId14"/>
    <p:sldId id="284" r:id="rId15"/>
    <p:sldId id="294" r:id="rId16"/>
    <p:sldId id="295" r:id="rId17"/>
    <p:sldId id="285" r:id="rId18"/>
    <p:sldId id="296" r:id="rId19"/>
    <p:sldId id="297" r:id="rId20"/>
    <p:sldId id="286" r:id="rId21"/>
    <p:sldId id="293" r:id="rId22"/>
    <p:sldId id="270" r:id="rId23"/>
    <p:sldId id="289" r:id="rId24"/>
    <p:sldId id="288" r:id="rId25"/>
    <p:sldId id="272" r:id="rId26"/>
    <p:sldId id="273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93"/>
    <p:restoredTop sz="81496"/>
  </p:normalViewPr>
  <p:slideViewPr>
    <p:cSldViewPr snapToGrid="0">
      <p:cViewPr>
        <p:scale>
          <a:sx n="78" d="100"/>
          <a:sy n="78" d="100"/>
        </p:scale>
        <p:origin x="10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35FF2-8915-A54A-8EAD-8F85AB9A51FE}" type="datetimeFigureOut">
              <a:rPr kumimoji="1" lang="zh-TW" altLang="en-US" smtClean="0"/>
              <a:t>2026/5/20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3F3F7-B0A0-C049-8967-D842C17DA35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1093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latin typeface="Cambria" panose="02040503050406030204" pitchFamily="18" charset="0"/>
                <a:ea typeface="Songti SC" panose="02010600040101010101" pitchFamily="2" charset="-122"/>
              </a:rPr>
              <a:t>Monte Carlo Estimation Methods: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R Built-in Bernoulli Simulation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Inverse Transform Method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Antithetic Variates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971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0A8A2-10DE-BC43-F0CA-D643BF633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2B9CD90-B25E-E7CE-836E-8D2938461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A0F40F-DBF3-AD3E-F0B9-FDD6AAC36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4473C8-FF78-AA0F-3040-B760BF0CC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53904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再看要如何呈現 我的是右邊的圖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697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antithetic variates </a:t>
            </a:r>
            <a:r>
              <a:rPr lang="zh-TW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確實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降低了估計值的變異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4659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antithetic variates 降低了估計值的變異</a:t>
            </a:r>
            <a:endParaRPr lang="en-US" altLang="zh-TW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87864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Bernoulli Var:0.0002245371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1378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C0B4-2283-4557-749E-2F5CD4C5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4A0304-224F-430D-D81A-C898B8B46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1D9DB4-AC27-F49D-0BC6-F2EDA4475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Bernoulli Var:0.0002245371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E54B67-72FA-F6BD-6908-81CD7386A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1569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1614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7AA1-43D6-55A2-FFB5-88ED01AF1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38469B-711C-51B2-898E-57585C20A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AC7031B-74BA-8303-C06F-CF05FE107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FF4062-726D-F176-3466-693D259B1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5567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71A12-5EE9-09C0-DB88-D70BF7CE5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CEAD2B6-C715-5BCE-097C-F33CB32F8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784CA6-A384-03A6-2C78-3AFE4A2F6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換門後選到車的機率</a:t>
            </a:r>
            <a:endParaRPr kumimoji="1" lang="en-US" altLang="zh-TW" dirty="0"/>
          </a:p>
          <a:p>
            <a:r>
              <a:rPr kumimoji="1" lang="zh-TW" altLang="en-US" dirty="0"/>
              <a:t>Ｑ</a:t>
            </a:r>
            <a:r>
              <a:rPr kumimoji="1" lang="en-US" altLang="zh-TW" dirty="0"/>
              <a:t>:bootstrap</a:t>
            </a:r>
            <a:r>
              <a:rPr kumimoji="1" lang="zh-TW" altLang="en-US" dirty="0"/>
              <a:t>（設定是</a:t>
            </a:r>
            <a:r>
              <a:rPr kumimoji="1" lang="en-US" altLang="zh-TW" dirty="0"/>
              <a:t>inverse function</a:t>
            </a:r>
            <a:r>
              <a:rPr kumimoji="1" lang="zh-TW" altLang="en-US" dirty="0"/>
              <a:t>）需要跟前面兩種情況（主持人是否知道答案）比較嗎</a:t>
            </a: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C72B0C-2B6F-D2A9-3C71-0449193AC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2128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BFE1-7E5E-07D1-012C-15E6AF630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DEE7684-5D8E-E59A-A602-81B4D93D3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83D6C13-6044-5B21-3A58-39D1B0FC7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F87AEE-B2A9-9800-1C62-9260EBF69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69836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72E6F-C490-2A80-121C-BDACBFBE7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FDD110-78F2-BCD5-5F3D-9DF1F1096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6A3B80C-363C-1591-F031-4EE12C6DA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換門後選到車的機率</a:t>
            </a:r>
            <a:endParaRPr kumimoji="1" lang="en-US" altLang="zh-TW" dirty="0"/>
          </a:p>
          <a:p>
            <a:r>
              <a:rPr kumimoji="1" lang="zh-TW" altLang="en-US" dirty="0"/>
              <a:t>Ｑ</a:t>
            </a:r>
            <a:r>
              <a:rPr kumimoji="1" lang="en-US" altLang="zh-TW" dirty="0"/>
              <a:t>:bootstrap</a:t>
            </a:r>
            <a:r>
              <a:rPr kumimoji="1" lang="zh-TW" altLang="en-US" dirty="0"/>
              <a:t>（設定是</a:t>
            </a:r>
            <a:r>
              <a:rPr kumimoji="1" lang="en-US" altLang="zh-TW" dirty="0"/>
              <a:t>inverse function</a:t>
            </a:r>
            <a:r>
              <a:rPr kumimoji="1" lang="zh-TW" altLang="en-US" dirty="0"/>
              <a:t>）需要跟前面兩種情況（主持人是否知道答案）比較嗎</a:t>
            </a: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D7064A-C610-DCAC-768D-47812729D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4619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B6169-096D-D134-1205-31AC0A92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CD3B14-87ED-315E-D66B-0BE3BAF34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911C3A-4783-4228-A056-8669671BA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F3BCDF-5BB1-42C4-FFAA-1F8AFF4E2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1585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3ECF0-225B-9A66-ACC2-2ABDFC67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172A737-FFDB-CC8B-0D2F-F0C7BFA61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4AC4A44-2FB7-ABF3-B25B-FE070F2C2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3088BA-2511-7F5F-278A-86CB63630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74468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E2496-1075-352A-1BCD-82FA1998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96A4FAF-E199-018C-15D1-B235B8182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FE5E2B-28DC-4962-9EB4-01623EDBD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ECA650-A37E-4E3A-6685-F11B441DF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3436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6DB8-5640-CEE9-72C8-905A3D68D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1780D8-6E43-BBD1-9746-792B36587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7FEBDDF-AC76-39CD-C378-5E6DC8E28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Permutation </a:t>
            </a:r>
            <a:r>
              <a:rPr kumimoji="1" lang="zh-TW" altLang="en-US" dirty="0"/>
              <a:t>結果：換門勝率</a:t>
            </a:r>
            <a:r>
              <a:rPr kumimoji="1" lang="en-US" altLang="zh-TW" dirty="0"/>
              <a:t>66.7%</a:t>
            </a:r>
            <a:r>
              <a:rPr kumimoji="1" lang="zh-TW" altLang="en-US" dirty="0"/>
              <a:t>、不換的勝率是</a:t>
            </a:r>
            <a:r>
              <a:rPr kumimoji="1" lang="en-US" altLang="zh-TW" dirty="0"/>
              <a:t>33.4%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r>
              <a:rPr kumimoji="1" lang="zh-TW" altLang="en-US" dirty="0"/>
              <a:t>接近理論</a:t>
            </a:r>
            <a:r>
              <a:rPr kumimoji="1" lang="en-US" altLang="zh-TW" dirty="0"/>
              <a:t>:</a:t>
            </a:r>
            <a:r>
              <a:rPr kumimoji="1" lang="zh-TW" altLang="en-US" dirty="0"/>
              <a:t>換門勝率</a:t>
            </a:r>
            <a:r>
              <a:rPr kumimoji="1" lang="en-US" altLang="zh-TW" dirty="0"/>
              <a:t>2/3. </a:t>
            </a:r>
            <a:r>
              <a:rPr kumimoji="1" lang="zh-TW" altLang="en-US" dirty="0"/>
              <a:t>不換的勝率</a:t>
            </a:r>
            <a:r>
              <a:rPr kumimoji="1" lang="en-US" altLang="zh-TW" dirty="0"/>
              <a:t>1/3</a:t>
            </a:r>
          </a:p>
          <a:p>
            <a:endParaRPr kumimoji="1"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dirty="0"/>
              <a:t>H0:</a:t>
            </a:r>
            <a:r>
              <a:rPr lang="zh-TW" altLang="zh-TW" dirty="0"/>
              <a:t>換門與不換門</a:t>
            </a:r>
            <a:r>
              <a:rPr lang="zh-TW" altLang="en-US" dirty="0"/>
              <a:t>勝率</a:t>
            </a:r>
            <a:r>
              <a:rPr lang="zh-TW" altLang="zh-TW" dirty="0"/>
              <a:t>沒有差別</a:t>
            </a:r>
            <a:r>
              <a:rPr lang="zh-TW" altLang="en-US" dirty="0"/>
              <a:t> （兩組平均數差異</a:t>
            </a:r>
            <a:r>
              <a:rPr lang="en-US" altLang="zh-TW" dirty="0"/>
              <a:t>=0</a:t>
            </a:r>
            <a:r>
              <a:rPr lang="zh-TW" altLang="en-US" dirty="0"/>
              <a:t>）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p=0:</a:t>
            </a:r>
            <a:r>
              <a:rPr lang="zh-TW" altLang="zh-TW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observed difference 幾乎不可能來自null distribution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B21206-AF45-29CE-9C4D-C962D4B83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863836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94D5-DC0A-69DE-AD04-040FD3228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2C0E8D7-AF2B-F63B-B6FC-B8EEE887F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5771D7F-8AC4-6074-0A1B-F7DB0AC4D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&gt; mean(</a:t>
            </a:r>
            <a:r>
              <a:rPr kumimoji="1" lang="en-US" altLang="zh-TW" dirty="0" err="1"/>
              <a:t>permutation_dist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/>
              <a:t>[1] -5.675989e-06</a:t>
            </a:r>
          </a:p>
          <a:p>
            <a:r>
              <a:rPr kumimoji="1" lang="en-US" altLang="zh-TW" dirty="0"/>
              <a:t>&gt; mean(x - y)</a:t>
            </a:r>
          </a:p>
          <a:p>
            <a:r>
              <a:rPr kumimoji="1" lang="en-US" altLang="zh-TW" dirty="0"/>
              <a:t>[1] -0.0001001191</a:t>
            </a:r>
          </a:p>
          <a:p>
            <a:r>
              <a:rPr kumimoji="1" lang="en-US" altLang="zh-TW" dirty="0"/>
              <a:t>&gt; </a:t>
            </a:r>
            <a:r>
              <a:rPr kumimoji="1" lang="en-US" altLang="zh-TW" dirty="0" err="1"/>
              <a:t>sd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permutation_dist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/>
              <a:t>[1] 0.0003675256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ABC7B9-6A22-919E-7BD3-8AFB7C215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8900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93154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4D6E-BA77-90BA-9C92-F5DB6510F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C3430F0-D7BE-CD14-00C9-D074673ED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ED56A10-A6F5-C3E6-6B95-6CE799B72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Monte Carlo Estimation Methods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Bootstrap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Jackknife Method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Permutation Test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Markov Chain Monte Carlo (MCMC)-Metropolis Hastings Algorithm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515A83-5339-D42A-A9CE-53E27DE7A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929782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4FBCB-9131-BB02-1053-77CD1C29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97FFBB0-FF18-7E6E-EADE-464406767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F8B58B7-3076-3D64-B0AE-E040BEE93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Monte Carlo Estimation Methods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Bootstrap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Jackknife Method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Permutation Test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Markov Chain Monte Carlo (MCMC)-Metropolis Hastings Algorithm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E3D68E-74D8-37FD-7CB3-B3A97A8B6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3F3F7-B0A0-C049-8967-D842C17DA35B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099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430F3D-DF9D-76BF-EC05-10D44C2F0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FEB173-6E1D-C890-0DCE-9A1103CD9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D993D7-F1DC-D400-AB71-D89E4810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52B38F-021C-E38D-EB5E-92E2F77B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32A271-6314-1050-D750-84F06AAA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350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AF42DD-C958-00C5-EB25-3E501308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D525C6-E9C6-F7AD-3859-127C75CD1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29C73F-931C-118E-B211-797BF8A8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813B2C-4831-6DD5-2C31-317910C3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8345FC-3060-B8B8-0FAE-489F54D02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26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EF40F-703F-8977-48A8-434D4180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2853EBB-F0F3-8E8A-8B66-4649EA57D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534432-FABD-5526-39AE-02B23C88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9AA32B-8C2A-F3C5-01C8-21C5108A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0B3D22-E7A8-F143-51F9-524F2655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0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646B1-3984-4614-DEFF-DCE99DA2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1C0EF0-7AC4-1D9F-995D-187AAEEF2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9F43AD-8BD9-161D-89E0-8C99BC60F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7FCADE2-4DF2-3F32-D3D9-A8497E73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56D3A7-C80E-6C3A-4FF3-E106DD9D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5556D8-E618-E19D-BC47-ADF78C08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02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6F7D71-1EBB-6F63-9C22-6F8A0715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014265-1DB4-D792-49E9-5B38513D8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BCC611E-F33F-3808-A899-185643376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FA0BC31-2D4E-1583-2FC7-120C3008D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974D57-191D-9E3D-5E8E-203266F88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AF8BEBE-89A5-1D27-75BC-69ED91BA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D6F51FC-59DA-5E80-11C1-3A942E98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76D16BE-E968-304D-485B-45194144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46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BF4F91-74A7-C2EA-EC95-5FD7E317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DE491A4-EE4E-2913-7BA9-37A76C16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79FCE6B-5E86-48EE-5ECE-ACFA2868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684561-2865-8229-7552-341B9503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44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39CCB7E-8E33-8C8E-E7D3-412CC6B13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576F09-F551-F09C-7FD7-ED6254F0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08F2F7-FCE6-A06E-2776-42A0F4C9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357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789BD-A9B2-AD91-BF1B-4CF60E4AB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117814-6DE8-AA40-70CC-8F2121502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527901-D522-50C9-B58F-2F940009D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8B906B-85F6-61DF-4307-6B898E523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A8BD70-F032-90A4-E2DA-ACEEC890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B860BD-B861-8B4D-4259-B1704CA4B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087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F0AAE8-B49F-4DA6-BFA6-8A815F28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41B5567-DC86-F57E-C0B8-81EC22A79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421A4A-85D7-4EAA-2471-029E38F30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48EB6F-0886-2453-E48F-A0A56EC6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959D69-ECE1-32AE-FC1A-72D811E9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DC5E8B-3228-3161-4D2C-5F70DEE0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1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3A4FEA-AFAF-331F-8D24-5C854CA5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E111A3D-173F-63D0-EE04-24F2EC024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B21BF0-843A-9616-CC74-7EB731CCE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0C8B67-0562-0731-092A-F0BB17CD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11590A-7F57-944A-D56D-38CA3DD84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92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9C83E4D-5440-155A-AD7C-265CCC033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02CB1B-7700-C061-E331-117F9C973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C0B5B1-2CE5-1810-550B-2B4DCDC8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EC7CD-0132-46A9-805B-E798C8C14E80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812DE5-CAD6-0789-F7C3-C7B615E91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AD5E98-E988-4B8D-94AC-F4C604DA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5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ED9AF3F-F7C3-3516-5675-AC306D54B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1C37C3-5826-4D2A-D961-61CC0EC3A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A94939-DC2B-ADF4-F60F-64C73DFA5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EC7CD-0132-46A9-805B-E798C8C14E80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70E65D-165F-E7E7-4C93-9351DC998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653B26-3CFD-DA6B-F400-112A1F368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33533-3AC9-4FAA-931E-4BA938026E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7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01ADE5-D822-535E-FB85-912A66398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95227"/>
            <a:ext cx="9144000" cy="1014736"/>
          </a:xfrm>
        </p:spPr>
        <p:txBody>
          <a:bodyPr/>
          <a:lstStyle/>
          <a:p>
            <a:r>
              <a:rPr lang="zh-TW" altLang="en-US" dirty="0">
                <a:latin typeface="Songti SC" panose="02010600040101010101" pitchFamily="2" charset="-122"/>
                <a:ea typeface="Songti SC" panose="02010600040101010101" pitchFamily="2" charset="-122"/>
              </a:rPr>
              <a:t>統計計算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426C8B-1F33-B9EC-B751-14D622A5F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1569"/>
            <a:ext cx="9144000" cy="396525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>
                <a:latin typeface="Songti SC" panose="02010600040101010101" pitchFamily="2" charset="-122"/>
                <a:ea typeface="Songti SC" panose="02010600040101010101" pitchFamily="2" charset="-122"/>
              </a:rPr>
              <a:t>賴俊延 林采宣</a:t>
            </a:r>
          </a:p>
        </p:txBody>
      </p:sp>
    </p:spTree>
    <p:extLst>
      <p:ext uri="{BB962C8B-B14F-4D97-AF65-F5344CB8AC3E}">
        <p14:creationId xmlns:p14="http://schemas.microsoft.com/office/powerpoint/2010/main" val="4286330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0C63-214C-F0A1-F2EF-88E58B9B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7B4D66-1C44-06D0-14E8-8C2AB300F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4976"/>
            <a:ext cx="9144000" cy="822378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Cambria" panose="02040503050406030204" pitchFamily="18" charset="0"/>
              </a:rPr>
              <a:t>Outline</a:t>
            </a:r>
            <a:endParaRPr lang="zh-TW" altLang="en-US" sz="4400" dirty="0">
              <a:latin typeface="Cambria" panose="02040503050406030204" pitchFamily="18" charset="0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886E8AEF-3B5F-FF4E-F7F4-2B2788D0E05F}"/>
              </a:ext>
            </a:extLst>
          </p:cNvPr>
          <p:cNvGrpSpPr/>
          <p:nvPr/>
        </p:nvGrpSpPr>
        <p:grpSpPr>
          <a:xfrm>
            <a:off x="1695163" y="2007476"/>
            <a:ext cx="4400838" cy="488847"/>
            <a:chOff x="1153295" y="1606171"/>
            <a:chExt cx="4400838" cy="4888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F34242F-7A88-F926-37BD-BCB91600C3D8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935644B-FC8F-41EC-4D7C-CFD9EEFF14A8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8" name="標題 1">
              <a:extLst>
                <a:ext uri="{FF2B5EF4-FFF2-40B4-BE49-F238E27FC236}">
                  <a16:creationId xmlns:a16="http://schemas.microsoft.com/office/drawing/2014/main" id="{A07F6D77-1CBC-4242-BEA7-4623FB27BDC8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9" name="副標題 2">
              <a:extLst>
                <a:ext uri="{FF2B5EF4-FFF2-40B4-BE49-F238E27FC236}">
                  <a16:creationId xmlns:a16="http://schemas.microsoft.com/office/drawing/2014/main" id="{93EFCD4D-E08E-4204-FF71-1BD09C05CA26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3701493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Introduction and Problem Setup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10" name="副標題 2">
            <a:extLst>
              <a:ext uri="{FF2B5EF4-FFF2-40B4-BE49-F238E27FC236}">
                <a16:creationId xmlns:a16="http://schemas.microsoft.com/office/drawing/2014/main" id="{AAE051B7-B045-30D2-5F9D-EE27141D9BF5}"/>
              </a:ext>
            </a:extLst>
          </p:cNvPr>
          <p:cNvSpPr txBox="1">
            <a:spLocks/>
          </p:cNvSpPr>
          <p:nvPr/>
        </p:nvSpPr>
        <p:spPr>
          <a:xfrm>
            <a:off x="1814930" y="2610071"/>
            <a:ext cx="4628461" cy="2803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Monty Hall Problem</a:t>
            </a:r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、</a:t>
            </a: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Simulation Framework</a:t>
            </a:r>
          </a:p>
          <a:p>
            <a:pPr>
              <a:lnSpc>
                <a:spcPct val="100000"/>
              </a:lnSpc>
            </a:pPr>
            <a:endParaRPr lang="zh-TW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E0FE4B24-E59E-73D0-CEAF-EBB4CD5DBBB3}"/>
              </a:ext>
            </a:extLst>
          </p:cNvPr>
          <p:cNvGrpSpPr/>
          <p:nvPr/>
        </p:nvGrpSpPr>
        <p:grpSpPr>
          <a:xfrm>
            <a:off x="1695163" y="3071546"/>
            <a:ext cx="4748228" cy="488847"/>
            <a:chOff x="1153295" y="1606171"/>
            <a:chExt cx="4748228" cy="488847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7D8EC00-5776-EBCA-7AEA-DEFD6D4257EF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860CF99-C0C0-D50D-46C9-0E61EAAB23A1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9" name="標題 1">
              <a:extLst>
                <a:ext uri="{FF2B5EF4-FFF2-40B4-BE49-F238E27FC236}">
                  <a16:creationId xmlns:a16="http://schemas.microsoft.com/office/drawing/2014/main" id="{764627B3-9B72-F6CE-F016-8BA1C0D6B49A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20" name="副標題 2">
              <a:extLst>
                <a:ext uri="{FF2B5EF4-FFF2-40B4-BE49-F238E27FC236}">
                  <a16:creationId xmlns:a16="http://schemas.microsoft.com/office/drawing/2014/main" id="{8255B0D1-17E1-3C3C-D6F6-75D25EF1730A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416497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21" name="副標題 2">
            <a:extLst>
              <a:ext uri="{FF2B5EF4-FFF2-40B4-BE49-F238E27FC236}">
                <a16:creationId xmlns:a16="http://schemas.microsoft.com/office/drawing/2014/main" id="{A8B468E4-4351-B61C-B8D6-62BF0AB8B840}"/>
              </a:ext>
            </a:extLst>
          </p:cNvPr>
          <p:cNvSpPr txBox="1">
            <a:spLocks/>
          </p:cNvSpPr>
          <p:nvPr/>
        </p:nvSpPr>
        <p:spPr>
          <a:xfrm>
            <a:off x="1814929" y="3596358"/>
            <a:ext cx="8853071" cy="1334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Bootstrap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Jackknife Method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Permutation Test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Songti SC" panose="02010600040101010101" pitchFamily="2" charset="-122"/>
              </a:rPr>
              <a:t>Markov Chain Monte Carlo (MCMC)-Metropolis Hastings Algorithm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2138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2C62C-29F0-BC46-1F46-5999EA47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D9A8DF34-799E-B88A-19F6-5782A27A82EE}"/>
              </a:ext>
            </a:extLst>
          </p:cNvPr>
          <p:cNvGrpSpPr/>
          <p:nvPr/>
        </p:nvGrpSpPr>
        <p:grpSpPr>
          <a:xfrm>
            <a:off x="821690" y="647642"/>
            <a:ext cx="4400838" cy="488847"/>
            <a:chOff x="1153295" y="1606171"/>
            <a:chExt cx="4400838" cy="48884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F95018E-FA53-8708-E75E-492B23BAD872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9652474-4971-C79B-89A8-DF2C74331AC5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8" name="標題 1">
              <a:extLst>
                <a:ext uri="{FF2B5EF4-FFF2-40B4-BE49-F238E27FC236}">
                  <a16:creationId xmlns:a16="http://schemas.microsoft.com/office/drawing/2014/main" id="{DDC77310-FDB7-A2F0-C0D4-6FB8FCC18AF3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9" name="副標題 2">
              <a:extLst>
                <a:ext uri="{FF2B5EF4-FFF2-40B4-BE49-F238E27FC236}">
                  <a16:creationId xmlns:a16="http://schemas.microsoft.com/office/drawing/2014/main" id="{F9481A6E-9273-676A-D34C-7F5D011C51F5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3701493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Introduction and Problem Setup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F2A41C8-D689-2AC5-9147-092A77CF22C2}"/>
              </a:ext>
            </a:extLst>
          </p:cNvPr>
          <p:cNvSpPr txBox="1"/>
          <p:nvPr/>
        </p:nvSpPr>
        <p:spPr>
          <a:xfrm>
            <a:off x="1055270" y="2056766"/>
            <a:ext cx="67259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三扇門</a:t>
            </a:r>
            <a:endParaRPr kumimoji="1" lang="en-US" altLang="zh-TW" dirty="0"/>
          </a:p>
          <a:p>
            <a:r>
              <a:rPr kumimoji="1" lang="en-US" altLang="zh-TW" dirty="0"/>
              <a:t>1</a:t>
            </a:r>
            <a:r>
              <a:rPr kumimoji="1" lang="zh-TW" altLang="en-US" dirty="0"/>
              <a:t>參賽者第一次選到跑車</a:t>
            </a:r>
            <a:endParaRPr kumimoji="1" lang="en-US" altLang="zh-TW" dirty="0"/>
          </a:p>
          <a:p>
            <a:r>
              <a:rPr kumimoji="1" lang="en-US" altLang="zh-TW" dirty="0"/>
              <a:t>2</a:t>
            </a:r>
            <a:r>
              <a:rPr kumimoji="1" lang="zh-TW" altLang="en-US" dirty="0"/>
              <a:t>參賽者第一次沒選到跑車</a:t>
            </a:r>
            <a:r>
              <a:rPr kumimoji="1" lang="en-US" altLang="zh-TW" dirty="0"/>
              <a:t>:</a:t>
            </a:r>
          </a:p>
          <a:p>
            <a:r>
              <a:rPr kumimoji="1" lang="en-US" altLang="zh-TW" dirty="0"/>
              <a:t>   a.</a:t>
            </a:r>
            <a:r>
              <a:rPr kumimoji="1" lang="zh-TW" altLang="en-US" dirty="0"/>
              <a:t>主持人知道跑車在哪</a:t>
            </a:r>
            <a:endParaRPr kumimoji="1" lang="en-US" altLang="zh-TW" dirty="0"/>
          </a:p>
          <a:p>
            <a:r>
              <a:rPr kumimoji="1" lang="zh-TW" altLang="en-US" dirty="0"/>
              <a:t>  </a:t>
            </a:r>
            <a:r>
              <a:rPr kumimoji="1" lang="en-US" altLang="zh-TW" dirty="0"/>
              <a:t> b.</a:t>
            </a:r>
            <a:r>
              <a:rPr kumimoji="1" lang="zh-TW" altLang="en-US" dirty="0"/>
              <a:t>主持人不知道跑車在哪</a:t>
            </a:r>
          </a:p>
        </p:txBody>
      </p:sp>
    </p:spTree>
    <p:extLst>
      <p:ext uri="{BB962C8B-B14F-4D97-AF65-F5344CB8AC3E}">
        <p14:creationId xmlns:p14="http://schemas.microsoft.com/office/powerpoint/2010/main" val="28338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475E865-0F02-3CD2-814C-FA241DC8B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88" y="1901533"/>
            <a:ext cx="5259718" cy="384327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9833074-4D92-AE6C-2310-3ED3BD2CC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530" y="1808413"/>
            <a:ext cx="5774582" cy="4029516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2A10EF4-74BC-9213-E4FA-EE98DF425B1D}"/>
              </a:ext>
            </a:extLst>
          </p:cNvPr>
          <p:cNvSpPr txBox="1"/>
          <p:nvPr/>
        </p:nvSpPr>
        <p:spPr>
          <a:xfrm>
            <a:off x="821688" y="1352134"/>
            <a:ext cx="826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Cambria" panose="02040503050406030204" pitchFamily="18" charset="0"/>
              </a:rPr>
              <a:t>Method: </a:t>
            </a:r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Built in R Bernoulli Simulation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5A6DB3F-BC84-8072-42BA-5A65EE112C78}"/>
              </a:ext>
            </a:extLst>
          </p:cNvPr>
          <p:cNvGrpSpPr/>
          <p:nvPr/>
        </p:nvGrpSpPr>
        <p:grpSpPr>
          <a:xfrm>
            <a:off x="821690" y="647642"/>
            <a:ext cx="8541540" cy="488847"/>
            <a:chOff x="1153295" y="1606171"/>
            <a:chExt cx="8541540" cy="48884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FCCD927-5F87-EF1F-5847-9CF7177BAF34}"/>
                </a:ext>
              </a:extLst>
            </p:cNvPr>
            <p:cNvSpPr/>
            <p:nvPr/>
          </p:nvSpPr>
          <p:spPr>
            <a:xfrm>
              <a:off x="1153295" y="1606171"/>
              <a:ext cx="8541540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6605E31-1217-E1D1-8A8B-979FD266079E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7" name="標題 1">
              <a:extLst>
                <a:ext uri="{FF2B5EF4-FFF2-40B4-BE49-F238E27FC236}">
                  <a16:creationId xmlns:a16="http://schemas.microsoft.com/office/drawing/2014/main" id="{D0125077-BEFA-293E-EDF5-DC0DCC51DF85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8" name="副標題 2">
              <a:extLst>
                <a:ext uri="{FF2B5EF4-FFF2-40B4-BE49-F238E27FC236}">
                  <a16:creationId xmlns:a16="http://schemas.microsoft.com/office/drawing/2014/main" id="{4DF02BEC-AF4C-7D54-7A24-09E6FF0ECC5B}"/>
                </a:ext>
              </a:extLst>
            </p:cNvPr>
            <p:cNvSpPr txBox="1">
              <a:spLocks/>
            </p:cNvSpPr>
            <p:nvPr/>
          </p:nvSpPr>
          <p:spPr>
            <a:xfrm>
              <a:off x="1736546" y="1642137"/>
              <a:ext cx="7816803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Situation 1: When contestant selected the sport car at the 1</a:t>
              </a:r>
              <a:r>
                <a:rPr lang="en-US" altLang="zh-TW" sz="2000" baseline="30000" dirty="0">
                  <a:latin typeface="Cambria" panose="02040503050406030204" pitchFamily="18" charset="0"/>
                  <a:ea typeface="Songti SC" panose="02010600040101010101" pitchFamily="2" charset="-122"/>
                </a:rPr>
                <a:t>st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259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138D2-7B20-35C1-DEDA-E15551E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F9E6D6E5-EB2B-6C51-26F7-D992CE97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57" y="1906333"/>
            <a:ext cx="5615965" cy="406569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8E4AB80-C3DA-E510-BFA5-59C8AA207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222" y="1906333"/>
            <a:ext cx="5956944" cy="4156768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2FEB6D-1FFC-1700-4176-45B58941C339}"/>
              </a:ext>
            </a:extLst>
          </p:cNvPr>
          <p:cNvSpPr txBox="1"/>
          <p:nvPr/>
        </p:nvSpPr>
        <p:spPr>
          <a:xfrm>
            <a:off x="821688" y="1352134"/>
            <a:ext cx="826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Cambria" panose="02040503050406030204" pitchFamily="18" charset="0"/>
              </a:rPr>
              <a:t>Method: </a:t>
            </a:r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Inverse Function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D6B98B48-FE5A-753E-EF38-97274C0E98DB}"/>
              </a:ext>
            </a:extLst>
          </p:cNvPr>
          <p:cNvGrpSpPr/>
          <p:nvPr/>
        </p:nvGrpSpPr>
        <p:grpSpPr>
          <a:xfrm>
            <a:off x="821690" y="647642"/>
            <a:ext cx="8541540" cy="488847"/>
            <a:chOff x="1153295" y="1606171"/>
            <a:chExt cx="8541540" cy="488847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BB73C95-446F-4638-B5AD-F550CC8BC870}"/>
                </a:ext>
              </a:extLst>
            </p:cNvPr>
            <p:cNvSpPr/>
            <p:nvPr/>
          </p:nvSpPr>
          <p:spPr>
            <a:xfrm>
              <a:off x="1153295" y="1606171"/>
              <a:ext cx="8541540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A6A5F69-45C6-E7D7-9320-6C78A27A03B2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7" name="標題 1">
              <a:extLst>
                <a:ext uri="{FF2B5EF4-FFF2-40B4-BE49-F238E27FC236}">
                  <a16:creationId xmlns:a16="http://schemas.microsoft.com/office/drawing/2014/main" id="{7C7E15BB-9285-5AB7-D6EC-7E0606EAB82D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8" name="副標題 2">
              <a:extLst>
                <a:ext uri="{FF2B5EF4-FFF2-40B4-BE49-F238E27FC236}">
                  <a16:creationId xmlns:a16="http://schemas.microsoft.com/office/drawing/2014/main" id="{1608792E-3D11-B097-A0C0-62C32C1057F9}"/>
                </a:ext>
              </a:extLst>
            </p:cNvPr>
            <p:cNvSpPr txBox="1">
              <a:spLocks/>
            </p:cNvSpPr>
            <p:nvPr/>
          </p:nvSpPr>
          <p:spPr>
            <a:xfrm>
              <a:off x="1736546" y="1642137"/>
              <a:ext cx="7816803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Situation 1: When contestant selected the sport car at the 1</a:t>
              </a:r>
              <a:r>
                <a:rPr lang="en-US" altLang="zh-TW" sz="2000" baseline="30000" dirty="0">
                  <a:latin typeface="Cambria" panose="02040503050406030204" pitchFamily="18" charset="0"/>
                  <a:ea typeface="Songti SC" panose="02010600040101010101" pitchFamily="2" charset="-122"/>
                </a:rPr>
                <a:t>st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12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18056-4B0E-3F91-83BB-F5CE0CD8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7619283-1AFC-8B7F-0D76-10B61004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49" y="1979485"/>
            <a:ext cx="5979183" cy="401703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3A1776E-1336-87F8-9C10-943F2BEA6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526" y="2235286"/>
            <a:ext cx="5241601" cy="365760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84D2CE6-E261-B5A3-1D85-FDEF588BCF2F}"/>
              </a:ext>
            </a:extLst>
          </p:cNvPr>
          <p:cNvSpPr txBox="1"/>
          <p:nvPr/>
        </p:nvSpPr>
        <p:spPr>
          <a:xfrm>
            <a:off x="821688" y="1352134"/>
            <a:ext cx="826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Cambria" panose="02040503050406030204" pitchFamily="18" charset="0"/>
              </a:rPr>
              <a:t>Method: </a:t>
            </a:r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Inverse Function with Control Variance 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C3F90E17-A707-0EF5-94D3-E8C8F71F0202}"/>
              </a:ext>
            </a:extLst>
          </p:cNvPr>
          <p:cNvGrpSpPr/>
          <p:nvPr/>
        </p:nvGrpSpPr>
        <p:grpSpPr>
          <a:xfrm>
            <a:off x="821690" y="647642"/>
            <a:ext cx="8541540" cy="488847"/>
            <a:chOff x="1153295" y="1606171"/>
            <a:chExt cx="8541540" cy="488847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BEC9780-F813-C3ED-AC0A-94B5821B32D6}"/>
                </a:ext>
              </a:extLst>
            </p:cNvPr>
            <p:cNvSpPr/>
            <p:nvPr/>
          </p:nvSpPr>
          <p:spPr>
            <a:xfrm>
              <a:off x="1153295" y="1606171"/>
              <a:ext cx="8541540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05DF366-AC18-D4B3-2C25-9FFFBAAEB706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6" name="標題 1">
              <a:extLst>
                <a:ext uri="{FF2B5EF4-FFF2-40B4-BE49-F238E27FC236}">
                  <a16:creationId xmlns:a16="http://schemas.microsoft.com/office/drawing/2014/main" id="{120DAEC0-A7EF-E737-3680-2B3A815B57CB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7" name="副標題 2">
              <a:extLst>
                <a:ext uri="{FF2B5EF4-FFF2-40B4-BE49-F238E27FC236}">
                  <a16:creationId xmlns:a16="http://schemas.microsoft.com/office/drawing/2014/main" id="{E45B4B47-46AA-513C-9694-49B9C8B49B95}"/>
                </a:ext>
              </a:extLst>
            </p:cNvPr>
            <p:cNvSpPr txBox="1">
              <a:spLocks/>
            </p:cNvSpPr>
            <p:nvPr/>
          </p:nvSpPr>
          <p:spPr>
            <a:xfrm>
              <a:off x="1736546" y="1642137"/>
              <a:ext cx="7816803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Situation 1: When contestant selected the sport car at the 1</a:t>
              </a:r>
              <a:r>
                <a:rPr lang="en-US" altLang="zh-TW" sz="2000" baseline="30000" dirty="0">
                  <a:latin typeface="Cambria" panose="02040503050406030204" pitchFamily="18" charset="0"/>
                  <a:ea typeface="Songti SC" panose="02010600040101010101" pitchFamily="2" charset="-122"/>
                </a:rPr>
                <a:t>st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3696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AB759-D638-BEF0-56D4-B73A30A3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0AF7C7F-548F-A280-F268-52B0E903B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168" y="1062349"/>
            <a:ext cx="6625661" cy="4433268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E916A37-E6B8-0FB0-9301-C678D1876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393850"/>
              </p:ext>
            </p:extLst>
          </p:nvPr>
        </p:nvGraphicFramePr>
        <p:xfrm>
          <a:off x="2828768" y="5421477"/>
          <a:ext cx="6534462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5774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Var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Built in R Bernoulli Simulation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0.333476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0.0002325059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Inverse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0.332992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0.0002223783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095210"/>
                  </a:ext>
                </a:extLst>
              </a:tr>
              <a:tr h="1668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Inverse Function with Control Variance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0.333429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0.0001163433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8415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B0893D44-E615-E39B-2469-B5A8A6982E59}"/>
              </a:ext>
            </a:extLst>
          </p:cNvPr>
          <p:cNvSpPr txBox="1"/>
          <p:nvPr/>
        </p:nvSpPr>
        <p:spPr>
          <a:xfrm>
            <a:off x="9221744" y="4384131"/>
            <a:ext cx="5549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Variance reduction = 47.68226</a:t>
            </a:r>
            <a:r>
              <a:rPr lang="zh-TW" altLang="en-US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 </a:t>
            </a:r>
            <a:r>
              <a:rPr lang="en-US" altLang="zh-TW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%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80254AE-14FB-CC8B-2020-11F659425525}"/>
              </a:ext>
            </a:extLst>
          </p:cNvPr>
          <p:cNvGrpSpPr/>
          <p:nvPr/>
        </p:nvGrpSpPr>
        <p:grpSpPr>
          <a:xfrm>
            <a:off x="821690" y="647642"/>
            <a:ext cx="8541540" cy="488847"/>
            <a:chOff x="1153295" y="1606171"/>
            <a:chExt cx="8541540" cy="48884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DB12521-7AC2-BDED-2451-9E12EB6157CA}"/>
                </a:ext>
              </a:extLst>
            </p:cNvPr>
            <p:cNvSpPr/>
            <p:nvPr/>
          </p:nvSpPr>
          <p:spPr>
            <a:xfrm>
              <a:off x="1153295" y="1606171"/>
              <a:ext cx="8541540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05D4218-A708-9678-5FA4-C4933448BF37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9" name="標題 1">
              <a:extLst>
                <a:ext uri="{FF2B5EF4-FFF2-40B4-BE49-F238E27FC236}">
                  <a16:creationId xmlns:a16="http://schemas.microsoft.com/office/drawing/2014/main" id="{0AABEC0C-7CD8-45F9-8239-09A2EC587401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937DEC1A-C6C8-566E-2AF4-087769BD35A3}"/>
                </a:ext>
              </a:extLst>
            </p:cNvPr>
            <p:cNvSpPr txBox="1">
              <a:spLocks/>
            </p:cNvSpPr>
            <p:nvPr/>
          </p:nvSpPr>
          <p:spPr>
            <a:xfrm>
              <a:off x="1736546" y="1642137"/>
              <a:ext cx="7816803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Situation 1: When contestant selected the sport car at the 1</a:t>
              </a:r>
              <a:r>
                <a:rPr lang="en-US" altLang="zh-TW" sz="2000" baseline="30000" dirty="0">
                  <a:latin typeface="Cambria" panose="02040503050406030204" pitchFamily="18" charset="0"/>
                  <a:ea typeface="Songti SC" panose="02010600040101010101" pitchFamily="2" charset="-122"/>
                </a:rPr>
                <a:t>st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7658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D830D-8361-A4E9-3A24-3C4E343E7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CF4C63F7-F4E0-8A9C-C418-815A7ECC9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9" y="2169203"/>
            <a:ext cx="4143755" cy="299173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6716844-0934-55A2-6161-01E9AB1D1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423" y="2169203"/>
            <a:ext cx="4143755" cy="2991732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CA23FC56-7488-CBC3-E20B-8DA7C78D9681}"/>
              </a:ext>
            </a:extLst>
          </p:cNvPr>
          <p:cNvGrpSpPr/>
          <p:nvPr/>
        </p:nvGrpSpPr>
        <p:grpSpPr>
          <a:xfrm>
            <a:off x="821690" y="647642"/>
            <a:ext cx="9515006" cy="488847"/>
            <a:chOff x="1153295" y="1606171"/>
            <a:chExt cx="9515006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F0A985A-0E3E-DFFA-9AAA-3DFEF60D1081}"/>
                </a:ext>
              </a:extLst>
            </p:cNvPr>
            <p:cNvSpPr/>
            <p:nvPr/>
          </p:nvSpPr>
          <p:spPr>
            <a:xfrm>
              <a:off x="1153295" y="1606171"/>
              <a:ext cx="9515006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9D84674-9716-0698-8C96-BACC14825723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5" name="標題 1">
              <a:extLst>
                <a:ext uri="{FF2B5EF4-FFF2-40B4-BE49-F238E27FC236}">
                  <a16:creationId xmlns:a16="http://schemas.microsoft.com/office/drawing/2014/main" id="{661A851D-16B5-98D2-CB2A-D244D75152FE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6" name="副標題 2">
              <a:extLst>
                <a:ext uri="{FF2B5EF4-FFF2-40B4-BE49-F238E27FC236}">
                  <a16:creationId xmlns:a16="http://schemas.microsoft.com/office/drawing/2014/main" id="{9F159419-E981-6CFB-62ED-ACD2C7DEEBB0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852093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Situation 2: When contestant didn’t select the sport car at the 1</a:t>
              </a:r>
              <a:r>
                <a:rPr lang="en-US" altLang="zh-TW" sz="2000" baseline="30000" dirty="0">
                  <a:latin typeface="Cambria" panose="02040503050406030204" pitchFamily="18" charset="0"/>
                  <a:ea typeface="Songti SC" panose="02010600040101010101" pitchFamily="2" charset="-122"/>
                </a:rPr>
                <a:t>st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 time</a:t>
              </a: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9DD3758B-E498-D506-85DD-0F4187798882}"/>
              </a:ext>
            </a:extLst>
          </p:cNvPr>
          <p:cNvSpPr txBox="1"/>
          <p:nvPr/>
        </p:nvSpPr>
        <p:spPr>
          <a:xfrm>
            <a:off x="821688" y="1352134"/>
            <a:ext cx="826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a. </a:t>
            </a:r>
            <a:r>
              <a:rPr lang="en-US" altLang="zh-TW" sz="1600" dirty="0">
                <a:latin typeface="Cambria" panose="02040503050406030204" pitchFamily="18" charset="0"/>
              </a:rPr>
              <a:t>If  host </a:t>
            </a:r>
            <a:r>
              <a:rPr lang="en-US" altLang="zh-TW" sz="1600" dirty="0">
                <a:solidFill>
                  <a:srgbClr val="C00000"/>
                </a:solidFill>
                <a:latin typeface="Cambria" panose="02040503050406030204" pitchFamily="18" charset="0"/>
              </a:rPr>
              <a:t>knows</a:t>
            </a:r>
            <a:r>
              <a:rPr lang="en-US" altLang="zh-TW" sz="1600" dirty="0">
                <a:latin typeface="Cambria" panose="02040503050406030204" pitchFamily="18" charset="0"/>
              </a:rPr>
              <a:t> the correct answer:</a:t>
            </a:r>
            <a:endParaRPr lang="en-US" altLang="zh-TW" sz="1600" i="0" kern="1200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C2410DC-1EC1-7D6E-7693-A899F5B2D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515" y="2169203"/>
            <a:ext cx="4505485" cy="315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21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CDD9-AEA2-6414-CB0A-865D55203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60CCA13E-960A-B635-66D1-A902AD82D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423" y="1172455"/>
            <a:ext cx="5996782" cy="4282105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D57A4A3D-D5DB-F548-3A3A-80F21A2C79E2}"/>
              </a:ext>
            </a:extLst>
          </p:cNvPr>
          <p:cNvGrpSpPr/>
          <p:nvPr/>
        </p:nvGrpSpPr>
        <p:grpSpPr>
          <a:xfrm>
            <a:off x="821690" y="647642"/>
            <a:ext cx="9515006" cy="488847"/>
            <a:chOff x="1153295" y="1606171"/>
            <a:chExt cx="9515006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C8CE268-F8A9-3C19-1EDE-6217B2F6E509}"/>
                </a:ext>
              </a:extLst>
            </p:cNvPr>
            <p:cNvSpPr/>
            <p:nvPr/>
          </p:nvSpPr>
          <p:spPr>
            <a:xfrm>
              <a:off x="1153295" y="1606171"/>
              <a:ext cx="9515006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4E8D582-7BFC-E980-6715-37DBB87FEC78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5" name="標題 1">
              <a:extLst>
                <a:ext uri="{FF2B5EF4-FFF2-40B4-BE49-F238E27FC236}">
                  <a16:creationId xmlns:a16="http://schemas.microsoft.com/office/drawing/2014/main" id="{7C655E4E-3E0D-B61D-E635-3203ABD2AF4B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6" name="副標題 2">
              <a:extLst>
                <a:ext uri="{FF2B5EF4-FFF2-40B4-BE49-F238E27FC236}">
                  <a16:creationId xmlns:a16="http://schemas.microsoft.com/office/drawing/2014/main" id="{6ED4C321-08D7-A06B-84CB-B909B60988A8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852093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Situation 2: When contestant didn’t select the sport car at the 1</a:t>
              </a:r>
              <a:r>
                <a:rPr lang="en-US" altLang="zh-TW" sz="2000" baseline="30000" dirty="0">
                  <a:latin typeface="Cambria" panose="02040503050406030204" pitchFamily="18" charset="0"/>
                  <a:ea typeface="Songti SC" panose="02010600040101010101" pitchFamily="2" charset="-122"/>
                </a:rPr>
                <a:t>st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 time</a:t>
              </a: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0D75CFE1-BC8B-16F7-0A33-C004D4F87B3A}"/>
              </a:ext>
            </a:extLst>
          </p:cNvPr>
          <p:cNvSpPr txBox="1"/>
          <p:nvPr/>
        </p:nvSpPr>
        <p:spPr>
          <a:xfrm>
            <a:off x="821688" y="1352134"/>
            <a:ext cx="826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a. </a:t>
            </a:r>
            <a:r>
              <a:rPr lang="en-US" altLang="zh-TW" sz="1600" dirty="0">
                <a:latin typeface="Cambria" panose="02040503050406030204" pitchFamily="18" charset="0"/>
              </a:rPr>
              <a:t>If  host </a:t>
            </a:r>
            <a:r>
              <a:rPr lang="en-US" altLang="zh-TW" sz="1600" dirty="0">
                <a:solidFill>
                  <a:srgbClr val="C00000"/>
                </a:solidFill>
                <a:latin typeface="Cambria" panose="02040503050406030204" pitchFamily="18" charset="0"/>
              </a:rPr>
              <a:t>knows</a:t>
            </a:r>
            <a:r>
              <a:rPr lang="en-US" altLang="zh-TW" sz="1600" dirty="0">
                <a:latin typeface="Cambria" panose="02040503050406030204" pitchFamily="18" charset="0"/>
              </a:rPr>
              <a:t> the correct answer:</a:t>
            </a:r>
            <a:endParaRPr lang="en-US" altLang="zh-TW" sz="1600" i="0" kern="1200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C8E4BC3-4005-7E95-8DEC-B587D0B60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204344"/>
              </p:ext>
            </p:extLst>
          </p:nvPr>
        </p:nvGraphicFramePr>
        <p:xfrm>
          <a:off x="2828768" y="5421477"/>
          <a:ext cx="6534462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5774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Var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Built in R Bernoulli Simulation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0.6666710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0.00002238811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Inverse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0.6666709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0.00002207536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095210"/>
                  </a:ext>
                </a:extLst>
              </a:tr>
              <a:tr h="1668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Inverse Function with Control Variance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0.6666532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0.00001110665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84152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AF909AA2-95F4-1BDC-46DA-248CA5F0E2DD}"/>
              </a:ext>
            </a:extLst>
          </p:cNvPr>
          <p:cNvSpPr txBox="1"/>
          <p:nvPr/>
        </p:nvSpPr>
        <p:spPr>
          <a:xfrm>
            <a:off x="9221744" y="4384131"/>
            <a:ext cx="5549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Variance reduction = 49.30385</a:t>
            </a:r>
            <a:r>
              <a:rPr lang="zh-TW" altLang="en-US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 </a:t>
            </a:r>
            <a:r>
              <a:rPr lang="en-US" altLang="zh-TW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25237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655E6-53E3-12FB-8EF0-C8AFDAD0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BAA5A89E-9D4C-07DE-CE69-6C7ACCC8C60E}"/>
              </a:ext>
            </a:extLst>
          </p:cNvPr>
          <p:cNvGrpSpPr/>
          <p:nvPr/>
        </p:nvGrpSpPr>
        <p:grpSpPr>
          <a:xfrm>
            <a:off x="821690" y="647642"/>
            <a:ext cx="9515006" cy="488847"/>
            <a:chOff x="1153295" y="1606171"/>
            <a:chExt cx="9515006" cy="48884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9AC1504-AA0B-8EDF-028B-CFE2A69A5369}"/>
                </a:ext>
              </a:extLst>
            </p:cNvPr>
            <p:cNvSpPr/>
            <p:nvPr/>
          </p:nvSpPr>
          <p:spPr>
            <a:xfrm>
              <a:off x="1153295" y="1606171"/>
              <a:ext cx="9515006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0191B64-88B0-EA94-8E2B-40BEF654AF50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9" name="標題 1">
              <a:extLst>
                <a:ext uri="{FF2B5EF4-FFF2-40B4-BE49-F238E27FC236}">
                  <a16:creationId xmlns:a16="http://schemas.microsoft.com/office/drawing/2014/main" id="{FA7F3E68-055F-C231-40D7-B197DACF4DA3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E44E6D5B-EAC1-EB8F-B8D8-27CFE94FC7C8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852093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Situation 2: When contestant didn’t select the sport car at the 1</a:t>
              </a:r>
              <a:r>
                <a:rPr lang="en-US" altLang="zh-TW" sz="2000" baseline="30000" dirty="0">
                  <a:latin typeface="Cambria" panose="02040503050406030204" pitchFamily="18" charset="0"/>
                  <a:ea typeface="Songti SC" panose="02010600040101010101" pitchFamily="2" charset="-122"/>
                </a:rPr>
                <a:t>st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 time</a:t>
              </a: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5D0E4C01-1489-5B53-394B-8D2B56DAD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20" y="2169203"/>
            <a:ext cx="4098676" cy="286643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A967B25-50BC-4AA8-A8D2-C33F7F40451C}"/>
              </a:ext>
            </a:extLst>
          </p:cNvPr>
          <p:cNvSpPr txBox="1"/>
          <p:nvPr/>
        </p:nvSpPr>
        <p:spPr>
          <a:xfrm>
            <a:off x="821688" y="1352134"/>
            <a:ext cx="826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zh-TW" sz="1600" dirty="0">
                <a:latin typeface="Cambria" panose="02040503050406030204" pitchFamily="18" charset="0"/>
              </a:rPr>
              <a:t>b</a:t>
            </a:r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. </a:t>
            </a:r>
            <a:r>
              <a:rPr lang="en-US" altLang="zh-TW" sz="1600" dirty="0">
                <a:latin typeface="Cambria" panose="02040503050406030204" pitchFamily="18" charset="0"/>
              </a:rPr>
              <a:t>If  host </a:t>
            </a:r>
            <a:r>
              <a:rPr lang="en-US" altLang="zh-TW" sz="1600" dirty="0">
                <a:solidFill>
                  <a:srgbClr val="C00000"/>
                </a:solidFill>
                <a:latin typeface="Cambria" panose="02040503050406030204" pitchFamily="18" charset="0"/>
              </a:rPr>
              <a:t>doesn’t know </a:t>
            </a:r>
            <a:r>
              <a:rPr lang="en-US" altLang="zh-TW" sz="1600" dirty="0">
                <a:latin typeface="Cambria" panose="02040503050406030204" pitchFamily="18" charset="0"/>
              </a:rPr>
              <a:t>the correct answer:</a:t>
            </a:r>
            <a:endParaRPr lang="en-US" altLang="zh-TW" sz="1600" i="0" kern="1200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DA364BF6-CEBD-FA41-57E1-A5579BDC7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756" y="2169203"/>
            <a:ext cx="4098676" cy="286643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4DAC1C31-09C6-99A5-4C77-4F9C0F6A3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3324" y="2169203"/>
            <a:ext cx="4098676" cy="286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33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29FA-5039-4DF2-2570-AB16CA2D5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119CCB73-2D78-1277-6F88-F52038823A49}"/>
              </a:ext>
            </a:extLst>
          </p:cNvPr>
          <p:cNvGrpSpPr/>
          <p:nvPr/>
        </p:nvGrpSpPr>
        <p:grpSpPr>
          <a:xfrm>
            <a:off x="821690" y="647642"/>
            <a:ext cx="9515006" cy="488847"/>
            <a:chOff x="1153295" y="1606171"/>
            <a:chExt cx="9515006" cy="48884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8E03630-73F9-B9DA-2E21-AC5BDCE8A169}"/>
                </a:ext>
              </a:extLst>
            </p:cNvPr>
            <p:cNvSpPr/>
            <p:nvPr/>
          </p:nvSpPr>
          <p:spPr>
            <a:xfrm>
              <a:off x="1153295" y="1606171"/>
              <a:ext cx="9515006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0CD8ACF-D646-A98B-1CC1-50F56CE144F8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9" name="標題 1">
              <a:extLst>
                <a:ext uri="{FF2B5EF4-FFF2-40B4-BE49-F238E27FC236}">
                  <a16:creationId xmlns:a16="http://schemas.microsoft.com/office/drawing/2014/main" id="{A3E243EF-282D-D594-0C3A-12B5DE74C70C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0AC52664-C8EB-D7BA-96DC-9D0949E9361A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852093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Situation 2: When contestant didn’t select the sport car at the 1</a:t>
              </a:r>
              <a:r>
                <a:rPr lang="en-US" altLang="zh-TW" sz="2000" baseline="30000" dirty="0">
                  <a:latin typeface="Cambria" panose="02040503050406030204" pitchFamily="18" charset="0"/>
                  <a:ea typeface="Songti SC" panose="02010600040101010101" pitchFamily="2" charset="-122"/>
                </a:rPr>
                <a:t>st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 time</a:t>
              </a: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EED96E11-81B6-A57C-E3B6-F8D4EDA89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20" y="2169203"/>
            <a:ext cx="4098676" cy="286643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CEBDD27-79E6-65A8-E818-AFFCEA0D8FC3}"/>
              </a:ext>
            </a:extLst>
          </p:cNvPr>
          <p:cNvSpPr txBox="1"/>
          <p:nvPr/>
        </p:nvSpPr>
        <p:spPr>
          <a:xfrm>
            <a:off x="821688" y="1352134"/>
            <a:ext cx="826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zh-TW" sz="1600" dirty="0">
                <a:latin typeface="Cambria" panose="02040503050406030204" pitchFamily="18" charset="0"/>
              </a:rPr>
              <a:t>b</a:t>
            </a:r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. </a:t>
            </a:r>
            <a:r>
              <a:rPr lang="en-US" altLang="zh-TW" sz="1600" dirty="0">
                <a:latin typeface="Cambria" panose="02040503050406030204" pitchFamily="18" charset="0"/>
              </a:rPr>
              <a:t>If  host </a:t>
            </a:r>
            <a:r>
              <a:rPr lang="en-US" altLang="zh-TW" sz="1600" dirty="0">
                <a:solidFill>
                  <a:srgbClr val="C00000"/>
                </a:solidFill>
                <a:latin typeface="Cambria" panose="02040503050406030204" pitchFamily="18" charset="0"/>
              </a:rPr>
              <a:t>doesn’t know </a:t>
            </a:r>
            <a:r>
              <a:rPr lang="en-US" altLang="zh-TW" sz="1600" dirty="0">
                <a:latin typeface="Cambria" panose="02040503050406030204" pitchFamily="18" charset="0"/>
              </a:rPr>
              <a:t>the correct answer: (control)</a:t>
            </a:r>
            <a:endParaRPr lang="en-US" altLang="zh-TW" sz="1600" i="0" kern="1200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B347B74A-ABCC-FFBC-6C6A-1AF7233F8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756" y="2169203"/>
            <a:ext cx="4098676" cy="286643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1A4B0F9A-FC65-F98A-93BD-62F7AB9C6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3324" y="2169203"/>
            <a:ext cx="4098676" cy="286643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C43CE17-A73F-00BF-BADB-6A77A31EF9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20" y="5042896"/>
            <a:ext cx="3980257" cy="281073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AD6E666-3DAA-BBE8-D650-DC3333A72D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7906" y="5035639"/>
            <a:ext cx="3959540" cy="2796103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2A39A76-A64F-8D3E-C2A1-C83D8B5128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1568" y="5035639"/>
            <a:ext cx="3959539" cy="279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999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C75C9-D822-B54D-8CEA-58F7BCCB8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59D9C309-B6E8-7BB3-FFDB-A262477C2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661" y="1172203"/>
            <a:ext cx="5424543" cy="4213559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01AAA018-474F-4B6B-F9D1-D3110A56CEBE}"/>
              </a:ext>
            </a:extLst>
          </p:cNvPr>
          <p:cNvGrpSpPr/>
          <p:nvPr/>
        </p:nvGrpSpPr>
        <p:grpSpPr>
          <a:xfrm>
            <a:off x="821690" y="647642"/>
            <a:ext cx="9515006" cy="488847"/>
            <a:chOff x="1153295" y="1606171"/>
            <a:chExt cx="9515006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5BF259C-6A02-711C-5E61-0DC152C23956}"/>
                </a:ext>
              </a:extLst>
            </p:cNvPr>
            <p:cNvSpPr/>
            <p:nvPr/>
          </p:nvSpPr>
          <p:spPr>
            <a:xfrm>
              <a:off x="1153295" y="1606171"/>
              <a:ext cx="9515006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03EC034-D317-8CE3-842A-021D5C550861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5" name="標題 1">
              <a:extLst>
                <a:ext uri="{FF2B5EF4-FFF2-40B4-BE49-F238E27FC236}">
                  <a16:creationId xmlns:a16="http://schemas.microsoft.com/office/drawing/2014/main" id="{FE3C35F2-36B0-F466-6902-9DDD68D2C1F7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6" name="副標題 2">
              <a:extLst>
                <a:ext uri="{FF2B5EF4-FFF2-40B4-BE49-F238E27FC236}">
                  <a16:creationId xmlns:a16="http://schemas.microsoft.com/office/drawing/2014/main" id="{3A094416-918D-72C0-B08F-A0AA8B80841E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852093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Situation 2: When contestant didn’t select the sport car at the 1</a:t>
              </a:r>
              <a:r>
                <a:rPr lang="en-US" altLang="zh-TW" sz="2000" baseline="30000" dirty="0">
                  <a:latin typeface="Cambria" panose="02040503050406030204" pitchFamily="18" charset="0"/>
                  <a:ea typeface="Songti SC" panose="02010600040101010101" pitchFamily="2" charset="-122"/>
                </a:rPr>
                <a:t>st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 time</a:t>
              </a: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74E89CFD-17AD-1B04-9ED0-AE44098495E8}"/>
              </a:ext>
            </a:extLst>
          </p:cNvPr>
          <p:cNvSpPr txBox="1"/>
          <p:nvPr/>
        </p:nvSpPr>
        <p:spPr>
          <a:xfrm>
            <a:off x="821688" y="1352134"/>
            <a:ext cx="826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zh-TW" sz="1600" dirty="0">
                <a:latin typeface="Cambria" panose="02040503050406030204" pitchFamily="18" charset="0"/>
              </a:rPr>
              <a:t>b</a:t>
            </a:r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. </a:t>
            </a:r>
            <a:r>
              <a:rPr lang="en-US" altLang="zh-TW" sz="1600" dirty="0">
                <a:latin typeface="Cambria" panose="02040503050406030204" pitchFamily="18" charset="0"/>
              </a:rPr>
              <a:t>If  host </a:t>
            </a:r>
            <a:r>
              <a:rPr lang="en-US" altLang="zh-TW" sz="1600" dirty="0">
                <a:solidFill>
                  <a:srgbClr val="C00000"/>
                </a:solidFill>
                <a:latin typeface="Cambria" panose="02040503050406030204" pitchFamily="18" charset="0"/>
              </a:rPr>
              <a:t>doesn’t know </a:t>
            </a:r>
            <a:r>
              <a:rPr lang="en-US" altLang="zh-TW" sz="1600" dirty="0">
                <a:latin typeface="Cambria" panose="02040503050406030204" pitchFamily="18" charset="0"/>
              </a:rPr>
              <a:t>the correct answer:</a:t>
            </a:r>
            <a:endParaRPr lang="en-US" altLang="zh-TW" sz="1600" i="0" kern="1200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55D39D6-88F0-C42F-8499-717E2DFCA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63314"/>
              </p:ext>
            </p:extLst>
          </p:nvPr>
        </p:nvGraphicFramePr>
        <p:xfrm>
          <a:off x="2828768" y="5421477"/>
          <a:ext cx="6534462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5774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Var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Built in R Bernoulli Simulation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0.333376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0.000220071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Inverse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0.333328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0.0000214475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095210"/>
                  </a:ext>
                </a:extLst>
              </a:tr>
              <a:tr h="1668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Inverse Function with Control Variance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0.333403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0.0000196868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8415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B223AD19-456F-811B-9753-4D977091AA84}"/>
              </a:ext>
            </a:extLst>
          </p:cNvPr>
          <p:cNvSpPr txBox="1"/>
          <p:nvPr/>
        </p:nvSpPr>
        <p:spPr>
          <a:xfrm>
            <a:off x="9221744" y="4384131"/>
            <a:ext cx="5549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Variance reduction = 12.98665</a:t>
            </a:r>
            <a:r>
              <a:rPr lang="zh-TW" altLang="en-US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 </a:t>
            </a:r>
            <a:r>
              <a:rPr lang="en-US" altLang="zh-TW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716465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689A-B7EE-CA1D-3386-6650DCE92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2DA9DE21-7E5E-CCBD-6F32-A8785FF20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9" y="1503199"/>
            <a:ext cx="5668145" cy="4002667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1A4DE228-0D81-259C-1F3D-54284DE986DF}"/>
              </a:ext>
            </a:extLst>
          </p:cNvPr>
          <p:cNvGrpSpPr/>
          <p:nvPr/>
        </p:nvGrpSpPr>
        <p:grpSpPr>
          <a:xfrm>
            <a:off x="821690" y="647642"/>
            <a:ext cx="9515006" cy="488847"/>
            <a:chOff x="1153295" y="1606171"/>
            <a:chExt cx="9515006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28E47FD-187B-92DC-A818-F531DB99C085}"/>
                </a:ext>
              </a:extLst>
            </p:cNvPr>
            <p:cNvSpPr/>
            <p:nvPr/>
          </p:nvSpPr>
          <p:spPr>
            <a:xfrm>
              <a:off x="1153295" y="1606171"/>
              <a:ext cx="9515006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F8A9C8-B7D8-35A5-B4C2-813EB0038C51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5" name="標題 1">
              <a:extLst>
                <a:ext uri="{FF2B5EF4-FFF2-40B4-BE49-F238E27FC236}">
                  <a16:creationId xmlns:a16="http://schemas.microsoft.com/office/drawing/2014/main" id="{0A0C6D36-7AE5-F9A3-AD88-0BC830942EA5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1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6" name="副標題 2">
              <a:extLst>
                <a:ext uri="{FF2B5EF4-FFF2-40B4-BE49-F238E27FC236}">
                  <a16:creationId xmlns:a16="http://schemas.microsoft.com/office/drawing/2014/main" id="{601E557B-3A6F-3CF3-D30C-FF2EB0AAD7CB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852093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Situation 2: When contestant didn’t select the sport car at the 1</a:t>
              </a:r>
              <a:r>
                <a:rPr lang="en-US" altLang="zh-TW" sz="2000" baseline="30000" dirty="0">
                  <a:latin typeface="Cambria" panose="02040503050406030204" pitchFamily="18" charset="0"/>
                  <a:ea typeface="Songti SC" panose="02010600040101010101" pitchFamily="2" charset="-122"/>
                </a:rPr>
                <a:t>st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 time</a:t>
              </a:r>
            </a:p>
          </p:txBody>
        </p:sp>
      </p:grp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CF81FC2-3237-9467-DB69-AF9959CFE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311777"/>
              </p:ext>
            </p:extLst>
          </p:nvPr>
        </p:nvGraphicFramePr>
        <p:xfrm>
          <a:off x="2828768" y="5421477"/>
          <a:ext cx="6534462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5774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597152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Var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Built in R Bernoulli Simulation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 0.3333115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0.000005541007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Inverse 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0.3333216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0.000005634683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095210"/>
                  </a:ext>
                </a:extLst>
              </a:tr>
              <a:tr h="1668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Inverse Function with Control Variance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0.3333022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0.000002810874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58415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71D07AC8-FAFF-C4A1-E238-0BCE73270ACC}"/>
              </a:ext>
            </a:extLst>
          </p:cNvPr>
          <p:cNvSpPr txBox="1"/>
          <p:nvPr/>
        </p:nvSpPr>
        <p:spPr>
          <a:xfrm>
            <a:off x="821688" y="1352134"/>
            <a:ext cx="826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zh-TW" sz="1600" dirty="0">
                <a:latin typeface="Cambria" panose="02040503050406030204" pitchFamily="18" charset="0"/>
              </a:rPr>
              <a:t>b</a:t>
            </a:r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. </a:t>
            </a:r>
            <a:r>
              <a:rPr lang="en-US" altLang="zh-TW" sz="1600" dirty="0">
                <a:latin typeface="Cambria" panose="02040503050406030204" pitchFamily="18" charset="0"/>
              </a:rPr>
              <a:t>If  host </a:t>
            </a:r>
            <a:r>
              <a:rPr lang="en-US" altLang="zh-TW" sz="1600" dirty="0">
                <a:solidFill>
                  <a:srgbClr val="C00000"/>
                </a:solidFill>
                <a:latin typeface="Cambria" panose="02040503050406030204" pitchFamily="18" charset="0"/>
              </a:rPr>
              <a:t>doesn’t know </a:t>
            </a:r>
            <a:r>
              <a:rPr lang="en-US" altLang="zh-TW" sz="1600" dirty="0">
                <a:latin typeface="Cambria" panose="02040503050406030204" pitchFamily="18" charset="0"/>
              </a:rPr>
              <a:t>the correct answer: (control)</a:t>
            </a:r>
            <a:endParaRPr lang="en-US" altLang="zh-TW" sz="1600" i="0" kern="1200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B9A8473-AAA9-F263-6BB8-80360F02B96E}"/>
              </a:ext>
            </a:extLst>
          </p:cNvPr>
          <p:cNvSpPr txBox="1"/>
          <p:nvPr/>
        </p:nvSpPr>
        <p:spPr>
          <a:xfrm>
            <a:off x="9221744" y="4384131"/>
            <a:ext cx="5549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Variance reduction = 50.20768</a:t>
            </a:r>
            <a:r>
              <a:rPr lang="zh-TW" altLang="en-US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 </a:t>
            </a:r>
            <a:r>
              <a:rPr lang="en-US" altLang="zh-TW" sz="1400" dirty="0">
                <a:solidFill>
                  <a:schemeClr val="accent1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853285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99DE13-8610-23BB-43BF-32B9622E8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76550DD-0642-5E73-6E94-6C42A50B4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769" y="1066075"/>
            <a:ext cx="6534462" cy="5075699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1E1D427A-8A51-E2BC-1169-82258C83EB5A}"/>
              </a:ext>
            </a:extLst>
          </p:cNvPr>
          <p:cNvGrpSpPr/>
          <p:nvPr/>
        </p:nvGrpSpPr>
        <p:grpSpPr>
          <a:xfrm>
            <a:off x="821689" y="647641"/>
            <a:ext cx="4748228" cy="488847"/>
            <a:chOff x="1153295" y="1606171"/>
            <a:chExt cx="4748228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8865710-AA6B-808A-E80C-DBA0C9B0FF22}"/>
                </a:ext>
              </a:extLst>
            </p:cNvPr>
            <p:cNvSpPr/>
            <p:nvPr/>
          </p:nvSpPr>
          <p:spPr>
            <a:xfrm>
              <a:off x="1153295" y="1606171"/>
              <a:ext cx="4305482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8C45C06-7D7B-84EF-A3CB-AD3BADE15EC1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AC238A57-A3C5-4FFB-D9EC-B7556E1BC23E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F31BE1A4-81D9-91E5-A9AE-CF89B208262B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416497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- </a:t>
              </a:r>
              <a:r>
                <a:rPr lang="en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Bootstrap</a:t>
              </a: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70047FA-DB29-5B36-18DE-A42D3A13B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066002"/>
              </p:ext>
            </p:extLst>
          </p:nvPr>
        </p:nvGraphicFramePr>
        <p:xfrm>
          <a:off x="3552745" y="6031174"/>
          <a:ext cx="5395388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843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077685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559958">
                  <a:extLst>
                    <a:ext uri="{9D8B030D-6E8A-4147-A177-3AD203B41FA5}">
                      <a16:colId xmlns:a16="http://schemas.microsoft.com/office/drawing/2014/main" val="820501993"/>
                    </a:ext>
                  </a:extLst>
                </a:gridCol>
                <a:gridCol w="1075902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bias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std. error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Bootstrap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0.66602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-0.00001.9895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0.001496019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537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A84E-7FC8-DF6A-EF59-EBACBD594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55023766-6155-7F0C-D7E1-E8639D47B6EB}"/>
              </a:ext>
            </a:extLst>
          </p:cNvPr>
          <p:cNvGrpSpPr/>
          <p:nvPr/>
        </p:nvGrpSpPr>
        <p:grpSpPr>
          <a:xfrm>
            <a:off x="821689" y="647641"/>
            <a:ext cx="4748228" cy="488847"/>
            <a:chOff x="1153295" y="1606171"/>
            <a:chExt cx="4748228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8CF3ED3-50B2-E32D-ABFC-B5E3EB7D2582}"/>
                </a:ext>
              </a:extLst>
            </p:cNvPr>
            <p:cNvSpPr/>
            <p:nvPr/>
          </p:nvSpPr>
          <p:spPr>
            <a:xfrm>
              <a:off x="1153295" y="1606171"/>
              <a:ext cx="4305482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DC723DC-28A9-D258-5020-35BC0AA25C2C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3DDBF910-31EF-CFF2-1F54-672AC10A44C5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16C12C68-74ED-A984-5C16-2160EEBB8C58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416497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- </a:t>
              </a:r>
              <a:r>
                <a:rPr lang="en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Bootstrap</a:t>
              </a: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28E2997-4BFF-1640-081D-09E7CCB9C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77013"/>
              </p:ext>
            </p:extLst>
          </p:nvPr>
        </p:nvGraphicFramePr>
        <p:xfrm>
          <a:off x="3552745" y="6031174"/>
          <a:ext cx="5395388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843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077685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559958">
                  <a:extLst>
                    <a:ext uri="{9D8B030D-6E8A-4147-A177-3AD203B41FA5}">
                      <a16:colId xmlns:a16="http://schemas.microsoft.com/office/drawing/2014/main" val="820501993"/>
                    </a:ext>
                  </a:extLst>
                </a:gridCol>
                <a:gridCol w="1075902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bias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std. error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Bootstrap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0.3332448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0.000000202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0.0000178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AC6E036A-ADD7-81CC-5374-AEDD22829B7C}"/>
              </a:ext>
            </a:extLst>
          </p:cNvPr>
          <p:cNvSpPr txBox="1"/>
          <p:nvPr/>
        </p:nvSpPr>
        <p:spPr>
          <a:xfrm>
            <a:off x="6139543" y="555171"/>
            <a:ext cx="599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new</a:t>
            </a:r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D84784C-7ADE-52E5-39ED-1896EC55E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980" y="1334515"/>
            <a:ext cx="6789020" cy="418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00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24045-317D-3B1C-5432-0649B9EE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8AE600D-C43A-2983-55DD-D6FB5E508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769" y="1066075"/>
            <a:ext cx="6534462" cy="5075699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F34B068A-FDB0-5695-E767-B53816BD664A}"/>
              </a:ext>
            </a:extLst>
          </p:cNvPr>
          <p:cNvGrpSpPr/>
          <p:nvPr/>
        </p:nvGrpSpPr>
        <p:grpSpPr>
          <a:xfrm>
            <a:off x="821689" y="647641"/>
            <a:ext cx="4748228" cy="488847"/>
            <a:chOff x="1153295" y="1606171"/>
            <a:chExt cx="4748228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AE4ABF5-9434-29B1-21C4-CB44108133AE}"/>
                </a:ext>
              </a:extLst>
            </p:cNvPr>
            <p:cNvSpPr/>
            <p:nvPr/>
          </p:nvSpPr>
          <p:spPr>
            <a:xfrm>
              <a:off x="1153295" y="1606171"/>
              <a:ext cx="4305482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AAC64CB-FFEC-11DF-51A3-1DEB4FB80759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2A2D9FFE-85C8-DED8-08FB-DBBA11720DDA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B5DCD549-A22F-4FA7-3BBC-BC0A4EC48751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4164976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- </a:t>
              </a:r>
              <a:r>
                <a:rPr lang="en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Bootstrap</a:t>
              </a: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867AF39-E156-491D-5CDF-A0D113618700}"/>
              </a:ext>
            </a:extLst>
          </p:cNvPr>
          <p:cNvGraphicFramePr>
            <a:graphicFrameLocks noGrp="1"/>
          </p:cNvGraphicFramePr>
          <p:nvPr/>
        </p:nvGraphicFramePr>
        <p:xfrm>
          <a:off x="3552745" y="6031174"/>
          <a:ext cx="5395388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843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077685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559958">
                  <a:extLst>
                    <a:ext uri="{9D8B030D-6E8A-4147-A177-3AD203B41FA5}">
                      <a16:colId xmlns:a16="http://schemas.microsoft.com/office/drawing/2014/main" val="820501993"/>
                    </a:ext>
                  </a:extLst>
                </a:gridCol>
                <a:gridCol w="1075902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bias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std. error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Bootstrap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0.66602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-0.00001.9895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0.001496019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8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8DA63C-014D-A7DB-F9B3-77169989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EA326F09-B5D7-AB1E-3741-E5480E8A74EB}"/>
              </a:ext>
            </a:extLst>
          </p:cNvPr>
          <p:cNvGrpSpPr/>
          <p:nvPr/>
        </p:nvGrpSpPr>
        <p:grpSpPr>
          <a:xfrm>
            <a:off x="821689" y="647641"/>
            <a:ext cx="6147786" cy="488847"/>
            <a:chOff x="1153295" y="1606171"/>
            <a:chExt cx="6147786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EBE332C-4E0D-DFE3-8F38-15CA7550EFD2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AA80E5B-1CD7-A353-65D5-846FD93D4455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4170CFBA-2E90-A493-9D04-2F3E08931C70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B178E08B-7494-9F3E-CDB1-8E8F5A0D96A0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5564534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- </a:t>
              </a: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Jackknife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pic>
        <p:nvPicPr>
          <p:cNvPr id="8" name="圖片 7">
            <a:extLst>
              <a:ext uri="{FF2B5EF4-FFF2-40B4-BE49-F238E27FC236}">
                <a16:creationId xmlns:a16="http://schemas.microsoft.com/office/drawing/2014/main" id="{69D39A10-A187-EB3D-AF32-CA6E6FB92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730" y="1136488"/>
            <a:ext cx="6968540" cy="4951074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E6BCF16-E181-E3C4-872F-FE9DE2C92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176661"/>
              </p:ext>
            </p:extLst>
          </p:nvPr>
        </p:nvGraphicFramePr>
        <p:xfrm>
          <a:off x="3552745" y="6031174"/>
          <a:ext cx="5395388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843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077685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559958">
                  <a:extLst>
                    <a:ext uri="{9D8B030D-6E8A-4147-A177-3AD203B41FA5}">
                      <a16:colId xmlns:a16="http://schemas.microsoft.com/office/drawing/2014/main" val="820501993"/>
                    </a:ext>
                  </a:extLst>
                </a:gridCol>
                <a:gridCol w="1075902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bias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std. error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Jackknife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0.66602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0.001502186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14D8B959-E140-19A1-9582-642CD14FA620}"/>
              </a:ext>
            </a:extLst>
          </p:cNvPr>
          <p:cNvSpPr txBox="1"/>
          <p:nvPr/>
        </p:nvSpPr>
        <p:spPr>
          <a:xfrm>
            <a:off x="6351814" y="898071"/>
            <a:ext cx="2067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New </a:t>
            </a:r>
            <a:r>
              <a:rPr kumimoji="1" lang="zh-TW" altLang="en-US" dirty="0"/>
              <a:t>還美改完語法</a:t>
            </a:r>
          </a:p>
        </p:txBody>
      </p:sp>
    </p:spTree>
    <p:extLst>
      <p:ext uri="{BB962C8B-B14F-4D97-AF65-F5344CB8AC3E}">
        <p14:creationId xmlns:p14="http://schemas.microsoft.com/office/powerpoint/2010/main" val="3927335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4830C-A736-8594-9333-D277C1D7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5C563441-0692-6DB3-6403-08ABC34A2941}"/>
              </a:ext>
            </a:extLst>
          </p:cNvPr>
          <p:cNvGrpSpPr/>
          <p:nvPr/>
        </p:nvGrpSpPr>
        <p:grpSpPr>
          <a:xfrm>
            <a:off x="821689" y="647641"/>
            <a:ext cx="6147786" cy="488847"/>
            <a:chOff x="1153295" y="1606171"/>
            <a:chExt cx="6147786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039AF27-8E7F-60D4-22FE-679A1216B440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1853CED-DFCC-9706-670E-818998A81288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C2128D1D-6995-F597-CF43-41B4553CCECC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890AFF0E-6606-15F0-5496-E96500E45694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5564534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- </a:t>
              </a: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Jackknife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ADFBE4-03BB-5C94-5DBE-FFE612DA4950}"/>
              </a:ext>
            </a:extLst>
          </p:cNvPr>
          <p:cNvGraphicFramePr>
            <a:graphicFrameLocks noGrp="1"/>
          </p:cNvGraphicFramePr>
          <p:nvPr/>
        </p:nvGraphicFramePr>
        <p:xfrm>
          <a:off x="3552745" y="6031174"/>
          <a:ext cx="5395388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843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077685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559958">
                  <a:extLst>
                    <a:ext uri="{9D8B030D-6E8A-4147-A177-3AD203B41FA5}">
                      <a16:colId xmlns:a16="http://schemas.microsoft.com/office/drawing/2014/main" val="820501993"/>
                    </a:ext>
                  </a:extLst>
                </a:gridCol>
                <a:gridCol w="1075902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bias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std. error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Jackknife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0.66602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0.001502186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52CDF87D-649A-69AB-84EC-8D5004A1B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032" y="1172454"/>
            <a:ext cx="7098813" cy="471447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3221355D-043D-9928-1D9E-FEBBCD9D9A1C}"/>
              </a:ext>
            </a:extLst>
          </p:cNvPr>
          <p:cNvSpPr txBox="1"/>
          <p:nvPr/>
        </p:nvSpPr>
        <p:spPr>
          <a:xfrm>
            <a:off x="9046029" y="783771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修正過</a:t>
            </a:r>
            <a:r>
              <a:rPr kumimoji="1" lang="en-US" altLang="zh-TW" dirty="0"/>
              <a:t>1.96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1636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0884-EF02-7BC5-5C74-4485AC84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9E2539D3-A0F7-BD92-F15A-E6BC7631E3DA}"/>
              </a:ext>
            </a:extLst>
          </p:cNvPr>
          <p:cNvGrpSpPr/>
          <p:nvPr/>
        </p:nvGrpSpPr>
        <p:grpSpPr>
          <a:xfrm>
            <a:off x="821689" y="647641"/>
            <a:ext cx="6147786" cy="488847"/>
            <a:chOff x="1153295" y="1606171"/>
            <a:chExt cx="6147786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2D7A26E-D568-49F5-3966-639DA8F6E46C}"/>
                </a:ext>
              </a:extLst>
            </p:cNvPr>
            <p:cNvSpPr/>
            <p:nvPr/>
          </p:nvSpPr>
          <p:spPr>
            <a:xfrm>
              <a:off x="1153295" y="1606171"/>
              <a:ext cx="4400838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E30FCF7-3B05-E12F-20C7-D3275B213087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0E7C7404-B4D9-546C-56FF-8EDAA64E0E5F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B63B4B2C-4E98-D801-1553-7D9ACD625B57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5564534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- </a:t>
              </a: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Jackknife</a:t>
              </a: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BE96CDB-DFF3-FF34-E1C2-CCBA54396D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610360"/>
              </p:ext>
            </p:extLst>
          </p:nvPr>
        </p:nvGraphicFramePr>
        <p:xfrm>
          <a:off x="3552745" y="6031174"/>
          <a:ext cx="5901498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184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453242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436915">
                  <a:extLst>
                    <a:ext uri="{9D8B030D-6E8A-4147-A177-3AD203B41FA5}">
                      <a16:colId xmlns:a16="http://schemas.microsoft.com/office/drawing/2014/main" val="820501993"/>
                    </a:ext>
                  </a:extLst>
                </a:gridCol>
                <a:gridCol w="1747157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bias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std. error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Jackknife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0.3332448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0.00001796697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BDBDF7E4-2126-7EDC-3E09-092EE32034D6}"/>
              </a:ext>
            </a:extLst>
          </p:cNvPr>
          <p:cNvSpPr txBox="1"/>
          <p:nvPr/>
        </p:nvSpPr>
        <p:spPr>
          <a:xfrm>
            <a:off x="6228130" y="683607"/>
            <a:ext cx="599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new</a:t>
            </a:r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9D61910-D0DA-3BC4-A0E7-9B3DE2F37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778" y="1172454"/>
            <a:ext cx="6994979" cy="464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09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E6182D-7C12-71BA-C8D7-7A4F1FBD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DDD62DE5-E255-8460-294D-13C433A11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674" y="1136488"/>
            <a:ext cx="6968540" cy="4951074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83C240DD-3CE7-E93A-C9EE-1CEF4E673B40}"/>
              </a:ext>
            </a:extLst>
          </p:cNvPr>
          <p:cNvGrpSpPr/>
          <p:nvPr/>
        </p:nvGrpSpPr>
        <p:grpSpPr>
          <a:xfrm>
            <a:off x="821689" y="647641"/>
            <a:ext cx="5089254" cy="488847"/>
            <a:chOff x="1153295" y="1606171"/>
            <a:chExt cx="5089254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4D71610-C82F-F795-675D-DD1EE2391E14}"/>
                </a:ext>
              </a:extLst>
            </p:cNvPr>
            <p:cNvSpPr/>
            <p:nvPr/>
          </p:nvSpPr>
          <p:spPr>
            <a:xfrm>
              <a:off x="1153295" y="1606171"/>
              <a:ext cx="5089254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E7748B1-9A99-86DD-DA54-DAD4529548CE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68EC98CF-851B-7D43-791C-258F2532C0D3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22F13FBE-F481-A68E-4AEA-68D86AE22562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4506002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- Permutation Test</a:t>
              </a: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FFDB66B-5FFE-2362-5B6D-875D04695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89388"/>
              </p:ext>
            </p:extLst>
          </p:nvPr>
        </p:nvGraphicFramePr>
        <p:xfrm>
          <a:off x="2207975" y="6022061"/>
          <a:ext cx="7405936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4776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787857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2776475">
                  <a:extLst>
                    <a:ext uri="{9D8B030D-6E8A-4147-A177-3AD203B41FA5}">
                      <a16:colId xmlns:a16="http://schemas.microsoft.com/office/drawing/2014/main" val="820501993"/>
                    </a:ext>
                  </a:extLst>
                </a:gridCol>
                <a:gridCol w="1476828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Method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mean 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observation difference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Songti SC" panose="02010600040101010101" pitchFamily="2" charset="-122"/>
                        <a:ea typeface="Songti SC" panose="0201060004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Songti SC" panose="02010600040101010101" pitchFamily="2" charset="-122"/>
                          <a:ea typeface="Songti SC" panose="02010600040101010101" pitchFamily="2" charset="-122"/>
                        </a:rPr>
                        <a:t>p-value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Permutation</a:t>
                      </a:r>
                      <a:endParaRPr lang="zh-TW" altLang="en-US" sz="1400" b="0" i="0" kern="1200" dirty="0">
                        <a:solidFill>
                          <a:schemeClr val="tx1"/>
                        </a:solidFill>
                        <a:effectLst/>
                        <a:latin typeface="Songti SC" panose="02010600040101010101" pitchFamily="2" charset="-122"/>
                        <a:ea typeface="Songti SC" panose="0201060004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−0.0000369804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0.333038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kern="1200" dirty="0">
                          <a:solidFill>
                            <a:schemeClr val="dk1"/>
                          </a:solidFill>
                          <a:effectLst/>
                          <a:latin typeface="Songti SC" panose="02010600040101010101" pitchFamily="2" charset="-122"/>
                          <a:ea typeface="Songti SC" panose="02010600040101010101" pitchFamily="2" charset="-122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B1386ADB-532F-EFB6-F886-E365854972DF}"/>
              </a:ext>
            </a:extLst>
          </p:cNvPr>
          <p:cNvSpPr txBox="1"/>
          <p:nvPr/>
        </p:nvSpPr>
        <p:spPr>
          <a:xfrm>
            <a:off x="8948133" y="1937759"/>
            <a:ext cx="3787229" cy="107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zh-TW" sz="1600" dirty="0">
                <a:solidFill>
                  <a:schemeClr val="accent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observation difference :</a:t>
            </a:r>
          </a:p>
          <a:p>
            <a:pPr latinLnBrk="1">
              <a:lnSpc>
                <a:spcPct val="150000"/>
              </a:lnSpc>
            </a:pPr>
            <a:r>
              <a:rPr lang="zh-TW" altLang="en-US" sz="1400" dirty="0">
                <a:solidFill>
                  <a:schemeClr val="accent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換門勝率</a:t>
            </a:r>
            <a:r>
              <a:rPr lang="en-US" altLang="zh-TW" sz="1400" dirty="0">
                <a:solidFill>
                  <a:schemeClr val="accent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- </a:t>
            </a:r>
            <a:r>
              <a:rPr lang="zh-TW" altLang="en-US" sz="1400" dirty="0">
                <a:solidFill>
                  <a:schemeClr val="accent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不換門勝率</a:t>
            </a:r>
            <a:endParaRPr lang="en-US" altLang="zh-TW" sz="1400" dirty="0">
              <a:solidFill>
                <a:schemeClr val="accent1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latinLnBrk="1">
              <a:lnSpc>
                <a:spcPct val="150000"/>
              </a:lnSpc>
            </a:pPr>
            <a:r>
              <a:rPr lang="en-US" altLang="zh-TW" sz="1400" dirty="0">
                <a:solidFill>
                  <a:schemeClr val="accent1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= 0.666746- 0.333708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712DD46-EC9D-18D1-9126-1710A66C6243}"/>
                  </a:ext>
                </a:extLst>
              </p:cNvPr>
              <p:cNvSpPr txBox="1"/>
              <p:nvPr/>
            </p:nvSpPr>
            <p:spPr>
              <a:xfrm>
                <a:off x="821688" y="1352134"/>
                <a:ext cx="8261352" cy="357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latinLnBrk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1600" b="0" i="1" dirty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zh-TW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𝑠𝑤𝑡𝑖𝑐h</m:t>
                        </m:r>
                      </m:sub>
                    </m:sSub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TW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𝑡𝑎𝑦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712DD46-EC9D-18D1-9126-1710A66C6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88" y="1352134"/>
                <a:ext cx="8261352" cy="357983"/>
              </a:xfrm>
              <a:prstGeom prst="rect">
                <a:avLst/>
              </a:prstGeom>
              <a:blipFill>
                <a:blip r:embed="rId4"/>
                <a:stretch>
                  <a:fillRect l="-307" t="-3448" b="-13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47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7D43B-C468-AD7B-716E-7A0438C3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E58D2691-39C9-8574-72FE-7D701E0D7D95}"/>
              </a:ext>
            </a:extLst>
          </p:cNvPr>
          <p:cNvGrpSpPr/>
          <p:nvPr/>
        </p:nvGrpSpPr>
        <p:grpSpPr>
          <a:xfrm>
            <a:off x="821689" y="647641"/>
            <a:ext cx="5089254" cy="488847"/>
            <a:chOff x="1153295" y="1606171"/>
            <a:chExt cx="5089254" cy="48884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B93B0D0-8895-83AB-4F5D-DE6F7264783A}"/>
                </a:ext>
              </a:extLst>
            </p:cNvPr>
            <p:cNvSpPr/>
            <p:nvPr/>
          </p:nvSpPr>
          <p:spPr>
            <a:xfrm>
              <a:off x="1153295" y="1606171"/>
              <a:ext cx="5089254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208FDA8-9919-8FB7-0AE4-C7A665C9B1AC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6" name="標題 1">
              <a:extLst>
                <a:ext uri="{FF2B5EF4-FFF2-40B4-BE49-F238E27FC236}">
                  <a16:creationId xmlns:a16="http://schemas.microsoft.com/office/drawing/2014/main" id="{9C17AEC7-F7CD-BFC4-7E90-F18A8051C5F8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0" name="副標題 2">
              <a:extLst>
                <a:ext uri="{FF2B5EF4-FFF2-40B4-BE49-F238E27FC236}">
                  <a16:creationId xmlns:a16="http://schemas.microsoft.com/office/drawing/2014/main" id="{524989CC-3F1B-C585-42A4-6FC77A4F6FE7}"/>
                </a:ext>
              </a:extLst>
            </p:cNvPr>
            <p:cNvSpPr txBox="1">
              <a:spLocks/>
            </p:cNvSpPr>
            <p:nvPr/>
          </p:nvSpPr>
          <p:spPr>
            <a:xfrm>
              <a:off x="1736547" y="1642137"/>
              <a:ext cx="4506002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 - Permutation Test</a:t>
              </a: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C74D163-ADBD-9B0F-EC7A-FDED28261E0B}"/>
                  </a:ext>
                </a:extLst>
              </p:cNvPr>
              <p:cNvSpPr txBox="1"/>
              <p:nvPr/>
            </p:nvSpPr>
            <p:spPr>
              <a:xfrm>
                <a:off x="821688" y="1352134"/>
                <a:ext cx="8261352" cy="357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latinLnBrk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1600" b="0" i="1" dirty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zh-TW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𝑠𝑤𝑡𝑖𝑐h</m:t>
                        </m:r>
                      </m:sub>
                    </m:sSub>
                    <m:r>
                      <a:rPr lang="en-US" altLang="zh-TW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TW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TW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𝑡𝑎𝑦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0712DD46-EC9D-18D1-9126-1710A66C6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688" y="1352134"/>
                <a:ext cx="8261352" cy="357983"/>
              </a:xfrm>
              <a:prstGeom prst="rect">
                <a:avLst/>
              </a:prstGeom>
              <a:blipFill>
                <a:blip r:embed="rId4"/>
                <a:stretch>
                  <a:fillRect l="-307" t="-3448" b="-13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49C83CC2-0C60-4253-78CD-841FF6E4D63D}"/>
              </a:ext>
            </a:extLst>
          </p:cNvPr>
          <p:cNvSpPr txBox="1"/>
          <p:nvPr/>
        </p:nvSpPr>
        <p:spPr>
          <a:xfrm>
            <a:off x="6429840" y="696743"/>
            <a:ext cx="6368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new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55EE9F55-6C5D-C4E4-651E-229EAA111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2494" y="1352134"/>
            <a:ext cx="5973780" cy="502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252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7E470C-942F-50EF-BB2C-301A31C4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8C53A5-707F-4306-DDCD-A2C176C64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換門與不換門選到跑車的機率是否有差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B8EA847-9F59-F906-4012-B8F72ACBC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137" y="1877042"/>
            <a:ext cx="9039726" cy="4507192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D14FB93-EA99-6085-49E0-7EA2ABC2D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634159"/>
              </p:ext>
            </p:extLst>
          </p:nvPr>
        </p:nvGraphicFramePr>
        <p:xfrm>
          <a:off x="3547770" y="3983752"/>
          <a:ext cx="7197964" cy="1325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491">
                  <a:extLst>
                    <a:ext uri="{9D8B030D-6E8A-4147-A177-3AD203B41FA5}">
                      <a16:colId xmlns:a16="http://schemas.microsoft.com/office/drawing/2014/main" val="3945390195"/>
                    </a:ext>
                  </a:extLst>
                </a:gridCol>
                <a:gridCol w="1799491">
                  <a:extLst>
                    <a:ext uri="{9D8B030D-6E8A-4147-A177-3AD203B41FA5}">
                      <a16:colId xmlns:a16="http://schemas.microsoft.com/office/drawing/2014/main" val="1634968925"/>
                    </a:ext>
                  </a:extLst>
                </a:gridCol>
                <a:gridCol w="1799491">
                  <a:extLst>
                    <a:ext uri="{9D8B030D-6E8A-4147-A177-3AD203B41FA5}">
                      <a16:colId xmlns:a16="http://schemas.microsoft.com/office/drawing/2014/main" val="2116488310"/>
                    </a:ext>
                  </a:extLst>
                </a:gridCol>
                <a:gridCol w="1799491">
                  <a:extLst>
                    <a:ext uri="{9D8B030D-6E8A-4147-A177-3AD203B41FA5}">
                      <a16:colId xmlns:a16="http://schemas.microsoft.com/office/drawing/2014/main" val="1012104654"/>
                    </a:ext>
                  </a:extLst>
                </a:gridCol>
              </a:tblGrid>
              <a:tr h="502857">
                <a:tc>
                  <a:txBody>
                    <a:bodyPr/>
                    <a:lstStyle/>
                    <a:p>
                      <a:pPr algn="ctr"/>
                      <a:endParaRPr lang="zh-TW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Obs</a:t>
                      </a: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std.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030795"/>
                  </a:ext>
                </a:extLst>
              </a:tr>
              <a:tr h="8227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Jacknife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0.0001991734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0.333292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0.007416886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22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225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D3B4C-D302-521B-B6BF-9F8FE9C5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106CDAD-1614-C469-7F78-1B8667FC5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468" y="1877030"/>
            <a:ext cx="4727943" cy="429736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FA45DE5-D5DF-D768-B4E0-2E27EC541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77030"/>
            <a:ext cx="4727943" cy="4297362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A8C8E759-A2AB-716D-7F47-16EE1D8EE963}"/>
              </a:ext>
            </a:extLst>
          </p:cNvPr>
          <p:cNvGrpSpPr/>
          <p:nvPr/>
        </p:nvGrpSpPr>
        <p:grpSpPr>
          <a:xfrm>
            <a:off x="821688" y="647641"/>
            <a:ext cx="10548621" cy="488847"/>
            <a:chOff x="1153294" y="1606171"/>
            <a:chExt cx="10548621" cy="48884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06580F3-5FEF-51BE-70D5-EF83F83F12EE}"/>
                </a:ext>
              </a:extLst>
            </p:cNvPr>
            <p:cNvSpPr/>
            <p:nvPr/>
          </p:nvSpPr>
          <p:spPr>
            <a:xfrm>
              <a:off x="1153294" y="1606171"/>
              <a:ext cx="10274204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4749099-920F-4CED-724A-006EA805C950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2" name="標題 1">
              <a:extLst>
                <a:ext uri="{FF2B5EF4-FFF2-40B4-BE49-F238E27FC236}">
                  <a16:creationId xmlns:a16="http://schemas.microsoft.com/office/drawing/2014/main" id="{221E80E3-B401-EDF4-CE09-F97B59CEB58F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3" name="副標題 2">
              <a:extLst>
                <a:ext uri="{FF2B5EF4-FFF2-40B4-BE49-F238E27FC236}">
                  <a16:creationId xmlns:a16="http://schemas.microsoft.com/office/drawing/2014/main" id="{D65B9D9E-26A7-B68C-9ABC-0598A6202712}"/>
                </a:ext>
              </a:extLst>
            </p:cNvPr>
            <p:cNvSpPr txBox="1">
              <a:spLocks/>
            </p:cNvSpPr>
            <p:nvPr/>
          </p:nvSpPr>
          <p:spPr>
            <a:xfrm>
              <a:off x="1736546" y="1642137"/>
              <a:ext cx="9965369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: </a:t>
              </a:r>
              <a:r>
                <a:rPr lang="en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Markov Chain Monte Carlo (MCMC)-Metropolis Hastings Algorithm</a:t>
              </a: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5A528EC-9606-80C1-6346-7A448039C161}"/>
              </a:ext>
            </a:extLst>
          </p:cNvPr>
          <p:cNvSpPr txBox="1"/>
          <p:nvPr/>
        </p:nvSpPr>
        <p:spPr>
          <a:xfrm>
            <a:off x="821688" y="1352134"/>
            <a:ext cx="1728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 latinLnBrk="1">
              <a:buFont typeface="Arial" panose="020B0604020202020204" pitchFamily="34" charset="0"/>
              <a:buChar char="•"/>
            </a:pPr>
            <a:r>
              <a:rPr lang="en-US" altLang="zh-TW" sz="1600" i="0" kern="1200" dirty="0" err="1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N_iter</a:t>
            </a:r>
            <a:r>
              <a:rPr lang="en-US" altLang="zh-TW" sz="1600" i="0" kern="1200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: 10000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F76D41B-F114-F17A-85F6-B32029DA1AAF}"/>
              </a:ext>
            </a:extLst>
          </p:cNvPr>
          <p:cNvSpPr txBox="1"/>
          <p:nvPr/>
        </p:nvSpPr>
        <p:spPr>
          <a:xfrm>
            <a:off x="4045922" y="2606499"/>
            <a:ext cx="2050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zh-TW" sz="1400" dirty="0">
                <a:solidFill>
                  <a:schemeClr val="accent1"/>
                </a:solidFill>
                <a:latin typeface="Cambria" panose="02040503050406030204" pitchFamily="18" charset="0"/>
              </a:rPr>
              <a:t>Probability:0.6653407</a:t>
            </a:r>
            <a:endParaRPr lang="en-US" altLang="zh-TW" sz="1400" i="0" kern="1200" dirty="0">
              <a:solidFill>
                <a:schemeClr val="accent1"/>
              </a:solidFill>
              <a:effectLst/>
              <a:latin typeface="Cambria" panose="020405030504060302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3BB40A4-0A5E-37E3-AA0B-42E103A5B6E8}"/>
              </a:ext>
            </a:extLst>
          </p:cNvPr>
          <p:cNvSpPr txBox="1"/>
          <p:nvPr/>
        </p:nvSpPr>
        <p:spPr>
          <a:xfrm>
            <a:off x="9160466" y="2606499"/>
            <a:ext cx="20500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zh-TW" sz="1400" dirty="0">
                <a:solidFill>
                  <a:schemeClr val="accent1"/>
                </a:solidFill>
                <a:latin typeface="Cambria" panose="02040503050406030204" pitchFamily="18" charset="0"/>
              </a:rPr>
              <a:t>Probability: 0.3391910</a:t>
            </a:r>
            <a:endParaRPr lang="en-US" altLang="zh-TW" sz="1400" i="0" kern="1200" dirty="0">
              <a:solidFill>
                <a:schemeClr val="accent1"/>
              </a:solidFill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7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B5D49-8009-930F-FDBF-1130924B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字方塊 18">
            <a:extLst>
              <a:ext uri="{FF2B5EF4-FFF2-40B4-BE49-F238E27FC236}">
                <a16:creationId xmlns:a16="http://schemas.microsoft.com/office/drawing/2014/main" id="{8AC0167C-6A07-356C-0184-B5C16C6F5A6A}"/>
              </a:ext>
            </a:extLst>
          </p:cNvPr>
          <p:cNvSpPr txBox="1"/>
          <p:nvPr/>
        </p:nvSpPr>
        <p:spPr>
          <a:xfrm>
            <a:off x="3413833" y="6096526"/>
            <a:ext cx="9773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latin typeface="+mj-ea"/>
                <a:ea typeface="+mj-ea"/>
              </a:rPr>
              <a:t>burn-in </a:t>
            </a:r>
            <a:r>
              <a:rPr kumimoji="1" lang="en" altLang="zh-TW" dirty="0" err="1">
                <a:latin typeface="+mj-ea"/>
                <a:ea typeface="+mj-ea"/>
              </a:rPr>
              <a:t>period:chain</a:t>
            </a:r>
            <a:r>
              <a:rPr kumimoji="1" lang="zh-TW" altLang="en-US" dirty="0">
                <a:latin typeface="+mj-ea"/>
                <a:ea typeface="+mj-ea"/>
              </a:rPr>
              <a:t>前</a:t>
            </a:r>
            <a:r>
              <a:rPr kumimoji="1" lang="en-US" altLang="zh-TW" dirty="0">
                <a:latin typeface="+mj-ea"/>
                <a:ea typeface="+mj-ea"/>
              </a:rPr>
              <a:t>2000</a:t>
            </a:r>
            <a:r>
              <a:rPr kumimoji="1" lang="zh-TW" altLang="en-US" dirty="0">
                <a:latin typeface="+mj-ea"/>
                <a:ea typeface="+mj-ea"/>
              </a:rPr>
              <a:t>次的抽樣先不用 </a:t>
            </a:r>
            <a:r>
              <a:rPr kumimoji="1" lang="en-US" altLang="zh-TW" dirty="0">
                <a:latin typeface="+mj-ea"/>
                <a:ea typeface="+mj-ea"/>
              </a:rPr>
              <a:t>-&gt;</a:t>
            </a:r>
            <a:r>
              <a:rPr kumimoji="1" lang="zh-TW" altLang="en-US" dirty="0">
                <a:latin typeface="+mj-ea"/>
                <a:ea typeface="+mj-ea"/>
              </a:rPr>
              <a:t>從</a:t>
            </a:r>
            <a:r>
              <a:rPr kumimoji="1" lang="en" altLang="zh-TW" dirty="0">
                <a:latin typeface="+mj-ea"/>
                <a:ea typeface="+mj-ea"/>
              </a:rPr>
              <a:t>trace plot</a:t>
            </a:r>
            <a:r>
              <a:rPr kumimoji="1" lang="zh-TW" altLang="en-US" dirty="0">
                <a:latin typeface="+mj-ea"/>
                <a:ea typeface="+mj-ea"/>
              </a:rPr>
              <a:t>可知前期波動大</a:t>
            </a:r>
            <a:endParaRPr kumimoji="1" lang="en-US" altLang="zh-TW" dirty="0">
              <a:latin typeface="+mj-ea"/>
              <a:ea typeface="+mj-ea"/>
            </a:endParaRPr>
          </a:p>
          <a:p>
            <a:r>
              <a:rPr kumimoji="1" lang="zh-TW" altLang="en-US" dirty="0">
                <a:latin typeface="+mj-ea"/>
                <a:ea typeface="+mj-ea"/>
              </a:rPr>
              <a:t>兩個抽樣機率的分佈都是穩定落在相同區間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3D3DFC-9AA6-32DF-976F-274A98BC4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90" y="1690688"/>
            <a:ext cx="4847287" cy="440583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FB4DC99-80A4-3478-C531-1F89234B8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90688"/>
            <a:ext cx="4847288" cy="4405838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46DB5AA6-CEBA-9A31-347D-D74F1A1D1962}"/>
              </a:ext>
            </a:extLst>
          </p:cNvPr>
          <p:cNvGrpSpPr/>
          <p:nvPr/>
        </p:nvGrpSpPr>
        <p:grpSpPr>
          <a:xfrm>
            <a:off x="821688" y="647641"/>
            <a:ext cx="10548621" cy="488847"/>
            <a:chOff x="1153294" y="1606171"/>
            <a:chExt cx="10548621" cy="48884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C895DFB-BE39-2F2C-A46B-CB435DB028CB}"/>
                </a:ext>
              </a:extLst>
            </p:cNvPr>
            <p:cNvSpPr/>
            <p:nvPr/>
          </p:nvSpPr>
          <p:spPr>
            <a:xfrm>
              <a:off x="1153294" y="1606171"/>
              <a:ext cx="10274204" cy="488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C120AB-7B4A-833B-90FF-304DFAE8A174}"/>
                </a:ext>
              </a:extLst>
            </p:cNvPr>
            <p:cNvSpPr/>
            <p:nvPr/>
          </p:nvSpPr>
          <p:spPr>
            <a:xfrm>
              <a:off x="1153296" y="1606171"/>
              <a:ext cx="467159" cy="48884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5" name="標題 1">
              <a:extLst>
                <a:ext uri="{FF2B5EF4-FFF2-40B4-BE49-F238E27FC236}">
                  <a16:creationId xmlns:a16="http://schemas.microsoft.com/office/drawing/2014/main" id="{6C2C353D-995F-FF3D-A6EB-F5A094EE3329}"/>
                </a:ext>
              </a:extLst>
            </p:cNvPr>
            <p:cNvSpPr txBox="1">
              <a:spLocks/>
            </p:cNvSpPr>
            <p:nvPr/>
          </p:nvSpPr>
          <p:spPr>
            <a:xfrm>
              <a:off x="1294909" y="1712549"/>
              <a:ext cx="168165" cy="312056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chemeClr val="bg1">
                      <a:lumMod val="95000"/>
                    </a:schemeClr>
                  </a:solidFill>
                  <a:latin typeface="Snell Roundhand" panose="02000603080000090004" pitchFamily="2" charset="0"/>
                </a:rPr>
                <a:t>2</a:t>
              </a:r>
              <a:endParaRPr lang="zh-TW" altLang="en-US" sz="1800" dirty="0">
                <a:solidFill>
                  <a:schemeClr val="bg1">
                    <a:lumMod val="95000"/>
                  </a:schemeClr>
                </a:solidFill>
                <a:latin typeface="Snell Roundhand" panose="02000603080000090004" pitchFamily="2" charset="0"/>
              </a:endParaRPr>
            </a:p>
          </p:txBody>
        </p:sp>
        <p:sp>
          <p:nvSpPr>
            <p:cNvPr id="16" name="副標題 2">
              <a:extLst>
                <a:ext uri="{FF2B5EF4-FFF2-40B4-BE49-F238E27FC236}">
                  <a16:creationId xmlns:a16="http://schemas.microsoft.com/office/drawing/2014/main" id="{31EF9FCB-411E-434C-75DC-0FB8889DEA0C}"/>
                </a:ext>
              </a:extLst>
            </p:cNvPr>
            <p:cNvSpPr txBox="1">
              <a:spLocks/>
            </p:cNvSpPr>
            <p:nvPr/>
          </p:nvSpPr>
          <p:spPr>
            <a:xfrm>
              <a:off x="1736546" y="1642137"/>
              <a:ext cx="9965369" cy="45288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zh-TW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Statistical Inference</a:t>
              </a:r>
              <a:r>
                <a:rPr lang="en-US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: </a:t>
              </a:r>
              <a:r>
                <a:rPr lang="en" altLang="zh-TW" sz="2000" dirty="0">
                  <a:latin typeface="Cambria" panose="02040503050406030204" pitchFamily="18" charset="0"/>
                  <a:ea typeface="Songti SC" panose="02010600040101010101" pitchFamily="2" charset="-122"/>
                </a:rPr>
                <a:t>Markov Chain Monte Carlo (MCMC)-Metropolis Hastings Algorithm</a:t>
              </a:r>
            </a:p>
            <a:p>
              <a:pPr algn="l">
                <a:lnSpc>
                  <a:spcPct val="100000"/>
                </a:lnSpc>
              </a:pPr>
              <a:endParaRPr lang="en-US" altLang="zh-TW" sz="2000" dirty="0">
                <a:latin typeface="Cambria" panose="02040503050406030204" pitchFamily="18" charset="0"/>
                <a:ea typeface="Songti SC" panose="02010600040101010101" pitchFamily="2" charset="-122"/>
              </a:endParaRPr>
            </a:p>
          </p:txBody>
        </p:sp>
      </p:grp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CE527870-A8BB-17E5-17CD-611CDF0ACBF4}"/>
              </a:ext>
            </a:extLst>
          </p:cNvPr>
          <p:cNvCxnSpPr>
            <a:cxnSpLocks/>
          </p:cNvCxnSpPr>
          <p:nvPr/>
        </p:nvCxnSpPr>
        <p:spPr>
          <a:xfrm>
            <a:off x="2514600" y="2423160"/>
            <a:ext cx="0" cy="285750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19614B7F-0BCC-8D96-9289-A7A80FC4BF2A}"/>
              </a:ext>
            </a:extLst>
          </p:cNvPr>
          <p:cNvCxnSpPr>
            <a:cxnSpLocks/>
          </p:cNvCxnSpPr>
          <p:nvPr/>
        </p:nvCxnSpPr>
        <p:spPr>
          <a:xfrm>
            <a:off x="7616952" y="2423160"/>
            <a:ext cx="0" cy="2857500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200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0DD20-2ADD-EC2A-0692-B35AB134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樹狀圖</a:t>
            </a:r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6939BA04-CB6D-245C-8234-644B782576C0}"/>
              </a:ext>
            </a:extLst>
          </p:cNvPr>
          <p:cNvSpPr/>
          <p:nvPr/>
        </p:nvSpPr>
        <p:spPr>
          <a:xfrm rot="19599261">
            <a:off x="4057998" y="2503038"/>
            <a:ext cx="1173949" cy="23671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84ED3043-9630-1085-C82E-F02E58A71C39}"/>
              </a:ext>
            </a:extLst>
          </p:cNvPr>
          <p:cNvSpPr/>
          <p:nvPr/>
        </p:nvSpPr>
        <p:spPr>
          <a:xfrm rot="1450683">
            <a:off x="4025061" y="4423800"/>
            <a:ext cx="1173949" cy="2580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C40B2B22-740C-827B-93AE-5AF759499A08}"/>
              </a:ext>
            </a:extLst>
          </p:cNvPr>
          <p:cNvSpPr/>
          <p:nvPr/>
        </p:nvSpPr>
        <p:spPr>
          <a:xfrm rot="19599551">
            <a:off x="6380068" y="1171894"/>
            <a:ext cx="1173949" cy="2052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0E7B9993-EEEC-026D-CC0F-C3A2F0CA1EA1}"/>
              </a:ext>
            </a:extLst>
          </p:cNvPr>
          <p:cNvSpPr/>
          <p:nvPr/>
        </p:nvSpPr>
        <p:spPr>
          <a:xfrm rot="1448578">
            <a:off x="6411991" y="2742778"/>
            <a:ext cx="1173949" cy="2105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02BC395-95C1-DAD6-859E-7F4F46197EA8}"/>
              </a:ext>
            </a:extLst>
          </p:cNvPr>
          <p:cNvSpPr txBox="1"/>
          <p:nvPr/>
        </p:nvSpPr>
        <p:spPr>
          <a:xfrm>
            <a:off x="5408666" y="1964188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Goat 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964E82C-BE5A-C7B6-E797-949A14E60671}"/>
              </a:ext>
            </a:extLst>
          </p:cNvPr>
          <p:cNvSpPr txBox="1"/>
          <p:nvPr/>
        </p:nvSpPr>
        <p:spPr>
          <a:xfrm>
            <a:off x="5569213" y="4862447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Car  </a:t>
            </a:r>
            <a:endParaRPr lang="zh-TW" altLang="en-US" dirty="0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E325F4A2-70E9-7248-C026-B7C959EDC59B}"/>
              </a:ext>
            </a:extLst>
          </p:cNvPr>
          <p:cNvSpPr/>
          <p:nvPr/>
        </p:nvSpPr>
        <p:spPr>
          <a:xfrm rot="19599551">
            <a:off x="6404654" y="4311173"/>
            <a:ext cx="1173949" cy="20525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3F650353-574C-BA18-034B-BFFF41ED1083}"/>
              </a:ext>
            </a:extLst>
          </p:cNvPr>
          <p:cNvSpPr/>
          <p:nvPr/>
        </p:nvSpPr>
        <p:spPr>
          <a:xfrm rot="1448578">
            <a:off x="6411991" y="5648854"/>
            <a:ext cx="1173949" cy="2105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BDD7CBF-3130-1960-9836-2793362E864B}"/>
              </a:ext>
            </a:extLst>
          </p:cNvPr>
          <p:cNvSpPr txBox="1"/>
          <p:nvPr/>
        </p:nvSpPr>
        <p:spPr>
          <a:xfrm>
            <a:off x="2965150" y="3369669"/>
            <a:ext cx="974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Choice 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5B9A18E-D40D-6DFF-2309-D75DB43D8244}"/>
              </a:ext>
            </a:extLst>
          </p:cNvPr>
          <p:cNvSpPr txBox="1"/>
          <p:nvPr/>
        </p:nvSpPr>
        <p:spPr>
          <a:xfrm>
            <a:off x="7917640" y="681506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Car  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C55DC75-4396-B20A-1A5E-393707DB341B}"/>
              </a:ext>
            </a:extLst>
          </p:cNvPr>
          <p:cNvSpPr txBox="1"/>
          <p:nvPr/>
        </p:nvSpPr>
        <p:spPr>
          <a:xfrm>
            <a:off x="7924799" y="2885759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Goat  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1D5EEAC-8B1F-669F-6286-08E124DD6DED}"/>
              </a:ext>
            </a:extLst>
          </p:cNvPr>
          <p:cNvSpPr txBox="1"/>
          <p:nvPr/>
        </p:nvSpPr>
        <p:spPr>
          <a:xfrm>
            <a:off x="7924799" y="5905644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Car  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3067A1E-7294-B37F-7C69-E35311B0789B}"/>
              </a:ext>
            </a:extLst>
          </p:cNvPr>
          <p:cNvSpPr txBox="1"/>
          <p:nvPr/>
        </p:nvSpPr>
        <p:spPr>
          <a:xfrm>
            <a:off x="7924799" y="3876697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Goat  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5F0CDA0-2206-F279-E911-C0573F5B9332}"/>
              </a:ext>
            </a:extLst>
          </p:cNvPr>
          <p:cNvSpPr txBox="1"/>
          <p:nvPr/>
        </p:nvSpPr>
        <p:spPr>
          <a:xfrm>
            <a:off x="4301305" y="1964188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2/3  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CE7E9BC-6F0B-F9F6-9188-DBB5CBBD8C56}"/>
              </a:ext>
            </a:extLst>
          </p:cNvPr>
          <p:cNvSpPr txBox="1"/>
          <p:nvPr/>
        </p:nvSpPr>
        <p:spPr>
          <a:xfrm>
            <a:off x="4301305" y="3920773"/>
            <a:ext cx="68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1/3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0919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33700-69F4-645B-5103-567A6DCD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350EBF-7D2F-989B-08C4-13F7A0B8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換門的勝率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5EACAF8-C4E7-30AF-4E0A-3DB02A5CD1DF}"/>
              </a:ext>
            </a:extLst>
          </p:cNvPr>
          <p:cNvSpPr txBox="1"/>
          <p:nvPr/>
        </p:nvSpPr>
        <p:spPr>
          <a:xfrm>
            <a:off x="4020699" y="2235050"/>
            <a:ext cx="6068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B1AA0AD-3322-F497-0190-3799D708D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243" y="2057977"/>
            <a:ext cx="9298637" cy="137102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C011A5CB-371C-6508-AF22-E21A2D294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243" y="3992935"/>
            <a:ext cx="6356553" cy="161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41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5563</TotalTime>
  <Words>934</Words>
  <Application>Microsoft Macintosh PowerPoint</Application>
  <PresentationFormat>寬螢幕</PresentationFormat>
  <Paragraphs>266</Paragraphs>
  <Slides>26</Slides>
  <Notes>20</Notes>
  <HiddenSlides>5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5" baseType="lpstr">
      <vt:lpstr>Songti SC</vt:lpstr>
      <vt:lpstr>Aptos</vt:lpstr>
      <vt:lpstr>Aptos Display</vt:lpstr>
      <vt:lpstr>Arial</vt:lpstr>
      <vt:lpstr>Calibri</vt:lpstr>
      <vt:lpstr>Cambria</vt:lpstr>
      <vt:lpstr>Cambria Math</vt:lpstr>
      <vt:lpstr>Snell Roundhand</vt:lpstr>
      <vt:lpstr>Office 佈景主題</vt:lpstr>
      <vt:lpstr>統計計算</vt:lpstr>
      <vt:lpstr>Outline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換門與不換門選到跑車的機率是否有差</vt:lpstr>
      <vt:lpstr>PowerPoint 簡報</vt:lpstr>
      <vt:lpstr>PowerPoint 簡報</vt:lpstr>
      <vt:lpstr>樹狀圖</vt:lpstr>
      <vt:lpstr>換門的勝率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俊延 賴</dc:creator>
  <cp:lastModifiedBy>采宣 林</cp:lastModifiedBy>
  <cp:revision>17</cp:revision>
  <dcterms:created xsi:type="dcterms:W3CDTF">2026-05-11T01:11:19Z</dcterms:created>
  <dcterms:modified xsi:type="dcterms:W3CDTF">2026-05-21T15:17:13Z</dcterms:modified>
</cp:coreProperties>
</file>